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algun Gothic"/>
              </a:defRPr>
            </a:pPr>
            <a:r>
              <a:rPr lang="ko-KR" altLang="en-US" sz="1000" b="0" i="0" u="none" strike="noStrike">
                <a:solidFill>
                  <a:srgbClr val="000000"/>
                </a:solidFill>
                <a:latin typeface="Malgun Gothic"/>
              </a:rPr>
              <a:t>데이터셋 </a:t>
            </a:r>
            <a:r>
              <a:rPr lang="en-US" altLang="ko-KR" sz="1000" b="0" i="0" u="none" strike="noStrike">
                <a:solidFill>
                  <a:srgbClr val="000000"/>
                </a:solidFill>
                <a:latin typeface="Malgun Gothic"/>
              </a:rPr>
              <a:t>Ⅰ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10</c:v>
                </c:pt>
                <c:pt idx="1">
                  <c:v>8</c:v>
                </c:pt>
                <c:pt idx="2">
                  <c:v>13</c:v>
                </c:pt>
                <c:pt idx="3">
                  <c:v>9</c:v>
                </c:pt>
                <c:pt idx="4">
                  <c:v>11</c:v>
                </c:pt>
                <c:pt idx="5">
                  <c:v>14</c:v>
                </c:pt>
                <c:pt idx="6">
                  <c:v>6</c:v>
                </c:pt>
                <c:pt idx="7">
                  <c:v>4</c:v>
                </c:pt>
                <c:pt idx="8">
                  <c:v>12</c:v>
                </c:pt>
                <c:pt idx="9">
                  <c:v>7</c:v>
                </c:pt>
                <c:pt idx="10">
                  <c:v>5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8.0399999999999991</c:v>
                </c:pt>
                <c:pt idx="1">
                  <c:v>6.95</c:v>
                </c:pt>
                <c:pt idx="2">
                  <c:v>7.58</c:v>
                </c:pt>
                <c:pt idx="3">
                  <c:v>8.81</c:v>
                </c:pt>
                <c:pt idx="4">
                  <c:v>8.33</c:v>
                </c:pt>
                <c:pt idx="5">
                  <c:v>9.9600000000000009</c:v>
                </c:pt>
                <c:pt idx="6">
                  <c:v>7.24</c:v>
                </c:pt>
                <c:pt idx="7">
                  <c:v>4.26</c:v>
                </c:pt>
                <c:pt idx="8">
                  <c:v>10.84</c:v>
                </c:pt>
                <c:pt idx="9">
                  <c:v>4.82</c:v>
                </c:pt>
                <c:pt idx="10">
                  <c:v>5.68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7BA-42E7-B8A8-3EB85B96AD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2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4"/>
          <c:min val="2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algun Gothic"/>
              </a:defRPr>
            </a:pPr>
            <a:r>
              <a:rPr lang="ko-KR" altLang="en-US" sz="1000" b="0" i="0" u="none" strike="noStrike">
                <a:solidFill>
                  <a:srgbClr val="000000"/>
                </a:solidFill>
                <a:latin typeface="Malgun Gothic"/>
              </a:rPr>
              <a:t>데이터셋 </a:t>
            </a:r>
            <a:r>
              <a:rPr lang="en-US" altLang="ko-KR" sz="1000" b="0" i="0" u="none" strike="noStrike">
                <a:solidFill>
                  <a:srgbClr val="000000"/>
                </a:solidFill>
                <a:latin typeface="Malgun Gothic"/>
              </a:rPr>
              <a:t>Ⅱ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10</c:v>
                </c:pt>
                <c:pt idx="1">
                  <c:v>8</c:v>
                </c:pt>
                <c:pt idx="2">
                  <c:v>13</c:v>
                </c:pt>
                <c:pt idx="3">
                  <c:v>9</c:v>
                </c:pt>
                <c:pt idx="4">
                  <c:v>11</c:v>
                </c:pt>
                <c:pt idx="5">
                  <c:v>14</c:v>
                </c:pt>
                <c:pt idx="6">
                  <c:v>6</c:v>
                </c:pt>
                <c:pt idx="7">
                  <c:v>4</c:v>
                </c:pt>
                <c:pt idx="8">
                  <c:v>12</c:v>
                </c:pt>
                <c:pt idx="9">
                  <c:v>7</c:v>
                </c:pt>
                <c:pt idx="10">
                  <c:v>5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9.14</c:v>
                </c:pt>
                <c:pt idx="1">
                  <c:v>8.14</c:v>
                </c:pt>
                <c:pt idx="2">
                  <c:v>8.74</c:v>
                </c:pt>
                <c:pt idx="3">
                  <c:v>8.77</c:v>
                </c:pt>
                <c:pt idx="4">
                  <c:v>9.26</c:v>
                </c:pt>
                <c:pt idx="5">
                  <c:v>8.1</c:v>
                </c:pt>
                <c:pt idx="6">
                  <c:v>6.13</c:v>
                </c:pt>
                <c:pt idx="7">
                  <c:v>3.1</c:v>
                </c:pt>
                <c:pt idx="8">
                  <c:v>9.1300000000000008</c:v>
                </c:pt>
                <c:pt idx="9">
                  <c:v>7.26</c:v>
                </c:pt>
                <c:pt idx="10">
                  <c:v>4.74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8E0-4506-BE8D-76A81EB3E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2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4"/>
          <c:min val="2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algun Gothic"/>
              </a:defRPr>
            </a:pPr>
            <a:r>
              <a:rPr lang="ko-KR" altLang="en-US" sz="1000" b="0" i="0" u="none" strike="noStrike">
                <a:solidFill>
                  <a:srgbClr val="000000"/>
                </a:solidFill>
                <a:latin typeface="Malgun Gothic"/>
              </a:rPr>
              <a:t>데이터셋 </a:t>
            </a:r>
            <a:r>
              <a:rPr lang="en-US" altLang="ko-KR" sz="1000" b="0" i="0" u="none" strike="noStrike">
                <a:solidFill>
                  <a:srgbClr val="000000"/>
                </a:solidFill>
                <a:latin typeface="Malgun Gothic"/>
              </a:rPr>
              <a:t>Ⅲ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10</c:v>
                </c:pt>
                <c:pt idx="1">
                  <c:v>8</c:v>
                </c:pt>
                <c:pt idx="2">
                  <c:v>13</c:v>
                </c:pt>
                <c:pt idx="3">
                  <c:v>9</c:v>
                </c:pt>
                <c:pt idx="4">
                  <c:v>11</c:v>
                </c:pt>
                <c:pt idx="5">
                  <c:v>14</c:v>
                </c:pt>
                <c:pt idx="6">
                  <c:v>6</c:v>
                </c:pt>
                <c:pt idx="7">
                  <c:v>4</c:v>
                </c:pt>
                <c:pt idx="8">
                  <c:v>12</c:v>
                </c:pt>
                <c:pt idx="9">
                  <c:v>7</c:v>
                </c:pt>
                <c:pt idx="10">
                  <c:v>5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7.46</c:v>
                </c:pt>
                <c:pt idx="1">
                  <c:v>6.77</c:v>
                </c:pt>
                <c:pt idx="2">
                  <c:v>12.74</c:v>
                </c:pt>
                <c:pt idx="3">
                  <c:v>7.11</c:v>
                </c:pt>
                <c:pt idx="4">
                  <c:v>7.81</c:v>
                </c:pt>
                <c:pt idx="5">
                  <c:v>8.84</c:v>
                </c:pt>
                <c:pt idx="6">
                  <c:v>6.08</c:v>
                </c:pt>
                <c:pt idx="7">
                  <c:v>5.39</c:v>
                </c:pt>
                <c:pt idx="8">
                  <c:v>8.15</c:v>
                </c:pt>
                <c:pt idx="9">
                  <c:v>6.42</c:v>
                </c:pt>
                <c:pt idx="10">
                  <c:v>5.73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85B-4C54-B17F-BBAC7F781A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2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4"/>
          <c:min val="2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algun Gothic"/>
              </a:defRPr>
            </a:pPr>
            <a:r>
              <a:rPr lang="ko-KR" altLang="en-US" sz="1000" b="0" i="0" u="none" strike="noStrike">
                <a:solidFill>
                  <a:srgbClr val="000000"/>
                </a:solidFill>
                <a:latin typeface="Malgun Gothic"/>
              </a:rPr>
              <a:t>데이터셋 </a:t>
            </a:r>
            <a:r>
              <a:rPr lang="en-US" altLang="ko-KR" sz="1000" b="0" i="0" u="none" strike="noStrike">
                <a:solidFill>
                  <a:srgbClr val="000000"/>
                </a:solidFill>
                <a:latin typeface="Malgun Gothic"/>
              </a:rPr>
              <a:t>Ⅳ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19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6.58</c:v>
                </c:pt>
                <c:pt idx="1">
                  <c:v>5.76</c:v>
                </c:pt>
                <c:pt idx="2">
                  <c:v>7.71</c:v>
                </c:pt>
                <c:pt idx="3">
                  <c:v>8.84</c:v>
                </c:pt>
                <c:pt idx="4">
                  <c:v>8.4700000000000006</c:v>
                </c:pt>
                <c:pt idx="5">
                  <c:v>7.04</c:v>
                </c:pt>
                <c:pt idx="6">
                  <c:v>5.25</c:v>
                </c:pt>
                <c:pt idx="7">
                  <c:v>12.5</c:v>
                </c:pt>
                <c:pt idx="8">
                  <c:v>5.56</c:v>
                </c:pt>
                <c:pt idx="9">
                  <c:v>7.91</c:v>
                </c:pt>
                <c:pt idx="10">
                  <c:v>6.89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34B-45BE-B41D-052BF6085B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2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4"/>
          <c:min val="2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Malgun Gothic"/>
              </a:defRPr>
            </a:pPr>
            <a:r>
              <a:rPr lang="en-US" altLang="ko-KR" sz="1300" b="0" i="0" u="none" strike="noStrike">
                <a:solidFill>
                  <a:srgbClr val="000000"/>
                </a:solidFill>
                <a:latin typeface="Malgun Gothic"/>
              </a:rPr>
              <a:t>y</a:t>
            </a:r>
            <a:r>
              <a:rPr lang="ko-KR" altLang="en-US" sz="1300" b="0" i="0" u="none" strike="noStrike">
                <a:solidFill>
                  <a:srgbClr val="000000"/>
                </a:solidFill>
                <a:latin typeface="Malgun Gothic"/>
              </a:rPr>
              <a:t>축을 </a:t>
            </a:r>
            <a:r>
              <a:rPr lang="en-US" altLang="ko-KR" sz="1300" b="0" i="0" u="none" strike="noStrike">
                <a:solidFill>
                  <a:srgbClr val="000000"/>
                </a:solidFill>
                <a:latin typeface="Malgun Gothic"/>
              </a:rPr>
              <a:t>94</a:t>
            </a:r>
            <a:r>
              <a:rPr lang="ko-KR" altLang="en-US" sz="1300" b="0" i="0" u="none" strike="noStrike">
                <a:solidFill>
                  <a:srgbClr val="000000"/>
                </a:solidFill>
                <a:latin typeface="Malgun Gothic"/>
              </a:rPr>
              <a:t>부터 → </a:t>
            </a:r>
            <a:r>
              <a:rPr lang="en-US" altLang="ko-KR" sz="1300" b="0" i="0" u="none" strike="noStrike">
                <a:solidFill>
                  <a:srgbClr val="000000"/>
                </a:solidFill>
                <a:latin typeface="Malgun Gothic"/>
              </a:rPr>
              <a:t>"B</a:t>
            </a:r>
            <a:r>
              <a:rPr lang="ko-KR" altLang="en-US" sz="1300" b="0" i="0" u="none" strike="noStrike">
                <a:solidFill>
                  <a:srgbClr val="000000"/>
                </a:solidFill>
                <a:latin typeface="Malgun Gothic"/>
              </a:rPr>
              <a:t>가 두 배</a:t>
            </a:r>
            <a:r>
              <a:rPr lang="en-US" altLang="ko-KR" sz="1300" b="0" i="0" u="none" strike="noStrike">
                <a:solidFill>
                  <a:srgbClr val="000000"/>
                </a:solidFill>
                <a:latin typeface="Malgun Gothic"/>
              </a:rPr>
              <a:t>!"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만족도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9D1-4982-A22F-4272E1682756}"/>
              </c:ext>
            </c:extLst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D1-4982-A22F-4272E168275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A사</c:v>
                </c:pt>
                <c:pt idx="1">
                  <c:v>B사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9D1-4982-A22F-4272E16827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4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Malgun Gothic"/>
              </a:defRPr>
            </a:pPr>
            <a:r>
              <a:rPr lang="en-US" altLang="ko-KR" sz="1300" b="0" i="0" u="none" strike="noStrike">
                <a:solidFill>
                  <a:srgbClr val="000000"/>
                </a:solidFill>
                <a:latin typeface="Malgun Gothic"/>
              </a:rPr>
              <a:t>y</a:t>
            </a:r>
            <a:r>
              <a:rPr lang="ko-KR" altLang="en-US" sz="1300" b="0" i="0" u="none" strike="noStrike">
                <a:solidFill>
                  <a:srgbClr val="000000"/>
                </a:solidFill>
                <a:latin typeface="Malgun Gothic"/>
              </a:rPr>
              <a:t>축을 </a:t>
            </a:r>
            <a:r>
              <a:rPr lang="en-US" altLang="ko-KR" sz="1300" b="0" i="0" u="none" strike="noStrike">
                <a:solidFill>
                  <a:srgbClr val="000000"/>
                </a:solidFill>
                <a:latin typeface="Malgun Gothic"/>
              </a:rPr>
              <a:t>0</a:t>
            </a:r>
            <a:r>
              <a:rPr lang="ko-KR" altLang="en-US" sz="1300" b="0" i="0" u="none" strike="noStrike">
                <a:solidFill>
                  <a:srgbClr val="000000"/>
                </a:solidFill>
                <a:latin typeface="Malgun Gothic"/>
              </a:rPr>
              <a:t>부터 → </a:t>
            </a:r>
            <a:r>
              <a:rPr lang="en-US" altLang="ko-KR" sz="1300" b="0" i="0" u="none" strike="noStrike">
                <a:solidFill>
                  <a:srgbClr val="000000"/>
                </a:solidFill>
                <a:latin typeface="Malgun Gothic"/>
              </a:rPr>
              <a:t>"</a:t>
            </a:r>
            <a:r>
              <a:rPr lang="ko-KR" altLang="en-US" sz="1300" b="0" i="0" u="none" strike="noStrike">
                <a:solidFill>
                  <a:srgbClr val="000000"/>
                </a:solidFill>
                <a:latin typeface="Malgun Gothic"/>
              </a:rPr>
              <a:t>거의 같음</a:t>
            </a:r>
            <a:r>
              <a:rPr lang="en-US" altLang="ko-KR" sz="1300" b="0" i="0" u="none" strike="noStrike">
                <a:solidFill>
                  <a:srgbClr val="000000"/>
                </a:solidFill>
                <a:latin typeface="Malgun Gothic"/>
              </a:rPr>
              <a:t>"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만족도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D54-4577-9DFC-4447DB51945A}"/>
              </c:ext>
            </c:extLst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D54-4577-9DFC-4447DB51945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A사</c:v>
                </c:pt>
                <c:pt idx="1">
                  <c:v>B사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54-4577-9DFC-4447DB5194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777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전처리 · EDA · 시각화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 err="1">
                <a:solidFill>
                  <a:srgbClr val="BFD7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800" dirty="0">
                <a:solidFill>
                  <a:srgbClr val="BFD7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분석의 첫 3단계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 AI팀 · AI 엔지니어링 트랙 · 3주차 이론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필요할까?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"Garbage in, garbage out" — 쓰레기를 넣으면 쓰레기가 나온다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6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전처리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064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</a:t>
            </a: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믿을</a:t>
            </a: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있게 만든다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86AB"/>
                </a:solidFill>
              </a:rPr>
              <a:t>▶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29184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6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468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이해한다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86AB"/>
                </a:solidFill>
              </a:rPr>
              <a:t>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12648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6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시각화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468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이해한 것을 전달한다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단계의 결과가 다음 단계의 입력이 됩니다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전처리 예시: 설문 데이터 정리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정보인데 데이터 분석에서는 서로 다른 값으로 처리될 수 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3840480" cy="1828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컴퓨터공학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스무살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(빈칸)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컴퓨터공학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컴퓨터공학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3434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E86AB"/>
                </a:solidFill>
              </a:rPr>
              <a:t>▶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91640"/>
          <a:ext cx="3840480" cy="14630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컴퓨터공학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컴퓨터공학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중앙값 채움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컴퓨터공학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통일  </a:t>
            </a: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"스무살"→20, "컴공"→컴퓨터공학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142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제거  </a:t>
            </a: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똑같은 행 1개 삭제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4439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  </a:t>
            </a: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삭제할지, 채울지 판단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EDA 예시: 숫자만 보면 속는다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Anscombe의 4개 데이터셋 — 평균·분산·상관계수가 모두 같다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28346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383280" y="1280160"/>
          <a:ext cx="28346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457200" y="3017520"/>
          <a:ext cx="28346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3"/>
          <p:cNvGraphicFramePr/>
          <p:nvPr/>
        </p:nvGraphicFramePr>
        <p:xfrm>
          <a:off x="3383280" y="3017520"/>
          <a:ext cx="28346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Shape 3"/>
          <p:cNvSpPr/>
          <p:nvPr/>
        </p:nvSpPr>
        <p:spPr>
          <a:xfrm>
            <a:off x="6400800" y="1371600"/>
            <a:ext cx="2377440" cy="3200400"/>
          </a:xfrm>
          <a:prstGeom prst="roundRect">
            <a:avLst>
              <a:gd name="adj" fmla="val 384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4"/>
          <p:cNvSpPr txBox="1"/>
          <p:nvPr/>
        </p:nvSpPr>
        <p:spPr>
          <a:xfrm>
            <a:off x="6492240" y="146304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모두 동일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x = 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y ≈ 7.5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상관계수 ≈ 0.82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그림은 전부 다름!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반드시 그려봐야 한다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시각화 예시: 그래프로 속이기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데이터, 축만 바꿨을 뿐인데 인상이 달라진다 (A·B 만족도 96점 vs 98점)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71600"/>
          <a:ext cx="39319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54880" y="1371600"/>
          <a:ext cx="39319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시각화 = 축·단위·기준을 정직하게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받으면 제일 먼저 할 5가지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①~③은 전처리, ④~⑤는 EDA·시각화 — 설문 데이터 예시로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02336" cy="40233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32588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 확인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행·열이 몇 개인가?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325880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설문 응답이 200명(행) × 5문항(열)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94360" y="2093976"/>
            <a:ext cx="402336" cy="40233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94360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002536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확인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어디가 얼마나 비었나?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002536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나이 칸이 30% 비어 있음 → 지울까, 채울까?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7919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94360" y="2770632"/>
            <a:ext cx="402336" cy="402336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67919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중복·이상값 확인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행이나 엉뚱한 값은?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2679192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민수가 두 번 입력됨 / 나이가 200살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35584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94360" y="3447288"/>
            <a:ext cx="402336" cy="402336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59436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35584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 그려보기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어떻게 퍼져 있나?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749040" y="3355848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나이 대부분 20대, 50대는 단 한 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03250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94360" y="4123944"/>
            <a:ext cx="402336" cy="402336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94360" y="4123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03250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그려보기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값이 같이 움직이나?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749040" y="4032504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공부 시간이 늘면 점수도 오르는가?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86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 </a:t>
            </a:r>
            <a:r>
              <a:rPr lang="en-US" sz="2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깨끗하게 만들고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86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 </a:t>
            </a:r>
            <a:r>
              <a:rPr lang="en-US" sz="2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살펴보고 이해하고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86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  </a:t>
            </a:r>
            <a:r>
              <a:rPr lang="en-US" sz="2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정직하게 전달한다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"숫자만 믿지 말고, 그려보고, 정직하게 보여주자"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397</Words>
  <Application>Microsoft Office PowerPoint</Application>
  <PresentationFormat>화면 슬라이드 쇼(16:9)</PresentationFormat>
  <Paragraphs>102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이지수</cp:lastModifiedBy>
  <cp:revision>3</cp:revision>
  <dcterms:created xsi:type="dcterms:W3CDTF">2026-10-06T13:33:29Z</dcterms:created>
  <dcterms:modified xsi:type="dcterms:W3CDTF">2026-10-06T13:40:15Z</dcterms:modified>
</cp:coreProperties>
</file>