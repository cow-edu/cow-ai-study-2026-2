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저는 오늘 데이터 전처리와 이상치 처리에 대해서 발표하겠습니다.</a:t>
            </a:r>
          </a:p>
          <a:p/>
          <a:p>
            <a:r>
              <a:t>우리가 데이터를 분석하거나 인공지능 모델을 학습시킬 때, 수집한 데이터를 바로 사용하는 경우는 많지 않습니다. 실제 데이터에는 값이 빠져 있거나, 잘못 입력되어 있거나, 다른 데이터와 크게 차이가 나는 값들이 존재할 수 있기 때문입니다.</a:t>
            </a:r>
          </a:p>
          <a:p/>
          <a:p>
            <a:r>
              <a:t>그래서 오늘은 먼저 데이터 전처리가 무엇인지 간단히 알아보고, 그중에서도 이상치를 어떻게 발견하고 처리하는지를 중심으로 설명하겠습니다.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 전처리란 수집된 원본 데이터를 분석이나 머신러닝에 사용할 수 있도록 정리하고 변환하는 과정입니다.</a:t>
            </a:r>
          </a:p>
          <a:p/>
          <a:p>
            <a:r>
              <a:t>실제로 수집한 데이터를 Raw Data, 즉 원본 데이터라고 하는데요. 이 데이터에는 여러 가지 문제가 존재할 수 있습니다.</a:t>
            </a:r>
          </a:p>
          <a:p/>
          <a:p>
            <a:r>
              <a:t>따라서 이러한 데이터를 정리하고 변환하는 전처리 과정을 거친 후, 분석이나 인공지능 학습에 사용하게 됩니다. 즉, 데이터 전처리는 원본 데이터와 실제 분석 사이에 있는 준비 과정이라고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예를 들어 이런 고객 데이터가 있다고 가정해 보겠습니다.</a:t>
            </a:r>
          </a:p>
          <a:p/>
          <a:p>
            <a:r>
              <a:t>어떤 사람은 나이 정보가 빠져 있고, 어떤 데이터는 구매금액이 기록되지 않았습니다. 또 동일한 데이터가 두 번 저장되어 있을 수도 있고, 나이가 200살처럼 일반적으로 보기 어려운 값이 들어 있을 수도 있습니다.</a:t>
            </a:r>
          </a:p>
          <a:p/>
          <a:p>
            <a:r>
              <a:t>이런 데이터를 그대로 분석한다면 분석 결과가 왜곡되거나 머신러닝 모델의 성능이 떨어질 수 있습니다. 따라서 분석하기 전에 이러한 문제를 먼저 확인하고 처리해야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 전처리에는 여러 과정이 있습니다.</a:t>
            </a:r>
          </a:p>
          <a:p/>
          <a:p>
            <a:r>
              <a:t>대표적으로 결측치 처리, 중복 데이터 제거, 이상치 처리, 범주형 데이터 변환, 스케일링 등이 있습니다.</a:t>
            </a:r>
          </a:p>
          <a:p/>
          <a:p>
            <a:r>
              <a:t>결측치는 값이 비어 있는 데이터를 의미하고, 중복 데이터는 같은 데이터가 여러 번 들어간 경우를 의미합니다. 또 문자로 되어 있는 범주형 데이터를 숫자로 변환하거나, 변수마다 다른 값의 범위를 맞춰주는 스케일링도 전처리에 포함됩니다.</a:t>
            </a:r>
          </a:p>
          <a:p/>
          <a:p>
            <a:r>
              <a:t>이 중에서 오늘은 이상치 처리에 조금 더 집중해서 살펴보겠습니다.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이상치, 영어로 Outlier란 다른 관측값들과 비교했을 때 비정상적으로 크거나 작은 값을 의미합니다.</a:t>
            </a:r>
          </a:p>
          <a:p/>
          <a:p>
            <a:r>
              <a:t>예를 들어 나이 데이터가 20, 21, 23, 24, 25, 22, 그리고 200이라고 한다면, 200이라는 값은 다른 데이터들과 큰 차이가 있습니다. 사람이 보면 쉽게 이상하다고 느낄 수 있습니다.</a:t>
            </a:r>
          </a:p>
          <a:p/>
          <a:p>
            <a:r>
              <a:t>그렇다면 컴퓨터는 이런 데이터를 어떻게 이상치라고 판단할 수 있을까요? 이를 위해 통계적인 기준을 사용할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 전에 이상치가 발생하는 이유를 살펴보겠습니다.</a:t>
            </a:r>
          </a:p>
          <a:p/>
          <a:p>
            <a:r>
              <a:t>첫 번째는 입력 오류입니다. 예를 들어 25세를 입력해야 하는데 실수로 250세라고 입력했을 수 있습니다.</a:t>
            </a:r>
          </a:p>
          <a:p/>
          <a:p>
            <a:r>
              <a:t>두 번째는 측정이나 데이터 수집 과정의 오류입니다. 센서가 고장 나거나 데이터 전송 과정에서 문제가 발생할 수도 있습니다.</a:t>
            </a:r>
          </a:p>
          <a:p/>
          <a:p>
            <a:r>
              <a:t>하지만 세 번째처럼 실제로 존재하는 극단적인 값일 수도 있습니다. 예를 들어 다른 사람보다 소득이 매우 높은 사람이 실제로 존재할 수 있습니다. 따라서 이상치라고 해서 항상 잘못된 데이터라고 볼 수는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이상치를 찾는 대표적인 통계적 방법에는 IQR과 Z-score가 있습니다.</a:t>
            </a:r>
          </a:p>
          <a:p/>
          <a:p>
            <a:r>
              <a:t>Z-score는 어떤 값이 평균에서 표준편차를 기준으로 얼마나 떨어져 있는지를 이용합니다. 그리고 IQR은 데이터를 크기순으로 나누었을 때 25% 지점인 Q1과 75% 지점인 Q3를 이용합니다.</a:t>
            </a:r>
          </a:p>
          <a:p/>
          <a:p>
            <a:r>
              <a:t>두 방법 모두 이상치를 탐지하는 데 사용할 수 있지만, 이번 발표에서는 비교적 직관적인 IQR 방법을 중심으로 설명하겠습니다.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IQR은 Interquartile Range, 즉 사분위 범위를 의미합니다.</a:t>
            </a:r>
          </a:p>
          <a:p/>
          <a:p>
            <a:r>
              <a:t>먼저 Q3에서 Q1을 빼서 IQR을 구합니다. 그리고 Q1에서 IQR의 1.5배를 뺀 값을 하한으로 정하고, Q3에 IQR의 1.5배를 더한 값을 상한으로 정합니다.</a:t>
            </a:r>
          </a:p>
          <a:p/>
          <a:p>
            <a:r>
              <a:t>따라서 이 하한보다 작은 값이나 상한보다 큰 값이 존재한다면 통계적으로 이상치 후보라고 판단할 수 있습니다.</a:t>
            </a:r>
          </a:p>
          <a:p/>
          <a:p>
            <a:r>
              <a:t>이 방법을 사용하면 사람이 수많은 데이터를 하나씩 확인하지 않아도 컴퓨터가 자동으로 이상치 후보를 찾아낼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간단한 예를 들어보겠습니다.</a:t>
            </a:r>
          </a:p>
          <a:p/>
          <a:p>
            <a:r>
              <a:t>만약 Q1이 12.5이고 Q3가 18이라면, IQR은 18에서 12.5를 뺀 5.5가 됩니다.</a:t>
            </a:r>
          </a:p>
          <a:p/>
          <a:p>
            <a:r>
              <a:t>여기에 1.5를 곱해서 하한과 상한을 계산하면 각각 4.25와 26.25가 됩니다. 따라서 데이터 중 4.25보다 작거나 26.25보다 큰 값은 이상치 후보가 됩니다.</a:t>
            </a:r>
          </a:p>
          <a:p/>
          <a:p>
            <a:r>
              <a:t>만약 데이터에 50이라는 값이 있다면 26.25보다 크기 때문에 통계적으로 이상치로 탐지됩니다. 이런 방식으로 이상치 탐지 자체는 수학적으로 자동화할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하지만 여기서 가장 중요한 점이 있습니다. 통계적으로 이상치라고 해서 무조건 잘못된 데이터인 것은 아닙니다.</a:t>
            </a:r>
          </a:p>
          <a:p/>
          <a:p>
            <a:r>
              <a:t>예를 들어 나이가 250세라고 기록되어 있다면 입력 오류일 가능성이 매우 높습니다. 하지만 어떤 사람의 연봉이 10억 원이라고 기록되어 있다면 다른 데이터와 큰 차이가 나더라도 실제로 존재하는 값일 수 있습니다.</a:t>
            </a:r>
          </a:p>
          <a:p/>
          <a:p>
            <a:r>
              <a:t>따라서 이상치를 발견하면 바로 삭제하는 것이 아니라, 먼저 이상치를 탐지하고 그 값이 발생한 원인과 의미를 확인한 다음 삭제, 수정, 대체 또는 유지할지를 결정해야 합니다.</a:t>
            </a:r>
          </a:p>
          <a:p/>
          <a:p>
            <a:r>
              <a:t>결론적으로 이상치 탐지는 수학적으로 자동화할 수 있지만, 이상치 처리는 데이터의 의미와 분석 목적을 함께 고려해야 합니다. 그리고 이러한 과정을 포함한 데이터 전처리가 제대로 이루어져야 신뢰할 수 있는 데이터 분석과 머신러닝 결과를 얻을 수 있습니다.</a:t>
            </a:r>
          </a:p>
          <a:p/>
          <a:p>
            <a:r>
              <a:t>이상으로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51560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3EC980"/>
                </a:solidFill>
                <a:latin typeface="Noto Sans CJK KR"/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332720" cy="11430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Noto Sans CJK KR"/>
              </a:rPr>
              <a:t>데이터 전처리와
이상치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8869680" cy="5486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AEB5BF"/>
                </a:solidFill>
                <a:latin typeface="Noto Sans CJK KR"/>
              </a:rPr>
              <a:t>“이상치는 어떻게 찾고, 어떻게 처리해야 할까?”</a:t>
            </a:r>
          </a:p>
        </p:txBody>
      </p:sp>
      <p:sp>
        <p:nvSpPr>
          <p:cNvPr id="6" name="Oval 5"/>
          <p:cNvSpPr/>
          <p:nvPr/>
        </p:nvSpPr>
        <p:spPr>
          <a:xfrm>
            <a:off x="8961120" y="4160520"/>
            <a:ext cx="384048" cy="38404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0" y="4572000"/>
            <a:ext cx="384048" cy="38404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7040" y="3977639"/>
            <a:ext cx="384048" cy="384048"/>
          </a:xfrm>
          <a:prstGeom prst="ellipse">
            <a:avLst/>
          </a:prstGeom>
          <a:solidFill>
            <a:srgbClr val="F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0" y="3566160"/>
            <a:ext cx="256032" cy="256032"/>
          </a:xfrm>
          <a:prstGeom prst="ellipse">
            <a:avLst/>
          </a:prstGeom>
          <a:solidFill>
            <a:srgbClr val="1F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64240" y="4754880"/>
            <a:ext cx="256032" cy="256032"/>
          </a:xfrm>
          <a:prstGeom prst="ellipse">
            <a:avLst/>
          </a:prstGeom>
          <a:solidFill>
            <a:srgbClr val="1F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897880"/>
            <a:ext cx="548640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5분 개념 발표 · 데이터 전처리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왜 데이터 전처리가 필요할까?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현실의 데이터는 처음부터 깨끗하지 않다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EB5BF"/>
                </a:solidFill>
                <a:latin typeface="Noto Sans CJK KR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594360" cy="50292"/>
          </a:xfrm>
          <a:prstGeom prst="rect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3716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37160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이름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737360"/>
            <a:ext cx="123444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737360"/>
            <a:ext cx="123444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나이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123444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737360"/>
            <a:ext cx="123444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성별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37360"/>
            <a:ext cx="16459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164592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구매금액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137160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40280"/>
            <a:ext cx="137160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철수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240280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2240280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240280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2240280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240280"/>
            <a:ext cx="164592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40280"/>
            <a:ext cx="164592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10,000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807208"/>
            <a:ext cx="137160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807208"/>
            <a:ext cx="137160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영희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807208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2807208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25C5C"/>
                </a:solidFill>
                <a:latin typeface="Noto Sans CJK KR"/>
              </a:rPr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807208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807208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807208"/>
            <a:ext cx="164592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807208"/>
            <a:ext cx="164592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15,000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374136"/>
            <a:ext cx="137160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374136"/>
            <a:ext cx="137160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민수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374136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374136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3374136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3374136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374136"/>
            <a:ext cx="164592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374136"/>
            <a:ext cx="164592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25C5C"/>
                </a:solidFill>
                <a:latin typeface="Noto Sans CJK KR"/>
              </a:rPr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941064"/>
            <a:ext cx="137160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941064"/>
            <a:ext cx="137160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철수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3941064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3941064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3941064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3941064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941064"/>
            <a:ext cx="164592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3941064"/>
            <a:ext cx="164592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10,000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507992"/>
            <a:ext cx="137160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507992"/>
            <a:ext cx="137160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지수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4507992"/>
            <a:ext cx="1234440" cy="566928"/>
          </a:xfrm>
          <a:prstGeom prst="rect">
            <a:avLst/>
          </a:prstGeom>
          <a:solidFill>
            <a:srgbClr val="FFE5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3120" y="4507992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25C5C"/>
                </a:solidFill>
                <a:latin typeface="Noto Sans CJK KR"/>
              </a:rPr>
              <a:t>200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4507992"/>
            <a:ext cx="123444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4507992"/>
            <a:ext cx="123444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4507992"/>
            <a:ext cx="1645920" cy="566928"/>
          </a:xfrm>
          <a:prstGeom prst="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0" y="4507992"/>
            <a:ext cx="1645920" cy="56692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Noto Sans CJK KR"/>
              </a:rPr>
              <a:t>12,000</a:t>
            </a:r>
          </a:p>
        </p:txBody>
      </p:sp>
      <p:sp>
        <p:nvSpPr>
          <p:cNvPr id="55" name="Oval 54"/>
          <p:cNvSpPr/>
          <p:nvPr/>
        </p:nvSpPr>
        <p:spPr>
          <a:xfrm>
            <a:off x="7406640" y="1874519"/>
            <a:ext cx="475488" cy="47548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0" y="1874519"/>
            <a:ext cx="475488" cy="47548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1856231"/>
            <a:ext cx="192024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결측치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0" y="2203703"/>
            <a:ext cx="320040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EB5BF"/>
                </a:solidFill>
                <a:latin typeface="Noto Sans CJK KR"/>
              </a:rPr>
              <a:t>값이 비어 있음</a:t>
            </a:r>
          </a:p>
        </p:txBody>
      </p:sp>
      <p:sp>
        <p:nvSpPr>
          <p:cNvPr id="59" name="Oval 58"/>
          <p:cNvSpPr/>
          <p:nvPr/>
        </p:nvSpPr>
        <p:spPr>
          <a:xfrm>
            <a:off x="7406640" y="2953511"/>
            <a:ext cx="475488" cy="47548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06640" y="2953511"/>
            <a:ext cx="475488" cy="47548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2935223"/>
            <a:ext cx="192024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중복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0" y="3282695"/>
            <a:ext cx="320040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EB5BF"/>
                </a:solidFill>
                <a:latin typeface="Noto Sans CJK KR"/>
              </a:rPr>
              <a:t>같은 기록이 반복됨</a:t>
            </a:r>
          </a:p>
        </p:txBody>
      </p:sp>
      <p:sp>
        <p:nvSpPr>
          <p:cNvPr id="63" name="Oval 62"/>
          <p:cNvSpPr/>
          <p:nvPr/>
        </p:nvSpPr>
        <p:spPr>
          <a:xfrm>
            <a:off x="7406640" y="4032504"/>
            <a:ext cx="475488" cy="475488"/>
          </a:xfrm>
          <a:prstGeom prst="ellipse">
            <a:avLst/>
          </a:prstGeom>
          <a:solidFill>
            <a:srgbClr val="F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6640" y="4032504"/>
            <a:ext cx="475488" cy="47548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4014216"/>
            <a:ext cx="192024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이상치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0" y="4361688"/>
            <a:ext cx="320040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EB5BF"/>
                </a:solidFill>
                <a:latin typeface="Noto Sans CJK KR"/>
              </a:rPr>
              <a:t>비정상적으로 큰/작은 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06640" y="5394960"/>
            <a:ext cx="3886200" cy="6400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Noto Sans CJK KR"/>
              </a:rPr>
              <a:t>→ 그대로 분석하면 결과가 왜곡될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데이터 전처리의 주요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분석 전에 데이터의 품질과 형태를 정리한다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EB5BF"/>
                </a:solidFill>
                <a:latin typeface="Noto Sans CJK KR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594360" cy="50292"/>
          </a:xfrm>
          <a:prstGeom prst="rect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874519" cy="2240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3EC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148840"/>
            <a:ext cx="54864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EC980"/>
                </a:solidFill>
                <a:latin typeface="Noto Sans CJK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788920"/>
            <a:ext cx="155448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결측치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10128"/>
            <a:ext cx="155448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EB5BF"/>
                </a:solidFill>
                <a:latin typeface="Noto Sans CJK KR"/>
              </a:rPr>
              <a:t>Missing values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42032" y="3090672"/>
            <a:ext cx="310896" cy="0"/>
          </a:xfrm>
          <a:prstGeom prst="line">
            <a:avLst/>
          </a:prstGeom>
          <a:ln w="31750">
            <a:solidFill>
              <a:srgbClr val="AEB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1965960"/>
            <a:ext cx="1874519" cy="2240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3EC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148840"/>
            <a:ext cx="54864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EC980"/>
                </a:solidFill>
                <a:latin typeface="Noto Sans CJK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788920"/>
            <a:ext cx="155448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중복 제거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310128"/>
            <a:ext cx="155448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EB5BF"/>
                </a:solidFill>
                <a:latin typeface="Noto Sans CJK KR"/>
              </a:rPr>
              <a:t>Duplicates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2" y="3090672"/>
            <a:ext cx="310896" cy="0"/>
          </a:xfrm>
          <a:prstGeom prst="line">
            <a:avLst/>
          </a:prstGeom>
          <a:ln w="31750">
            <a:solidFill>
              <a:srgbClr val="AEB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965960"/>
            <a:ext cx="1874519" cy="2240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F2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2148840"/>
            <a:ext cx="54864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25C5C"/>
                </a:solidFill>
                <a:latin typeface="Noto Sans CJK K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788920"/>
            <a:ext cx="155448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이상치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310128"/>
            <a:ext cx="155448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EB5BF"/>
                </a:solidFill>
                <a:latin typeface="Noto Sans CJK KR"/>
              </a:rPr>
              <a:t>Outliers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4032" y="3090672"/>
            <a:ext cx="310896" cy="0"/>
          </a:xfrm>
          <a:prstGeom prst="line">
            <a:avLst/>
          </a:prstGeom>
          <a:ln w="31750">
            <a:solidFill>
              <a:srgbClr val="AEB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1965960"/>
            <a:ext cx="1874519" cy="2240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3EC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148840"/>
            <a:ext cx="54864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EC980"/>
                </a:solidFill>
                <a:latin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2788920"/>
            <a:ext cx="155448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범주형 변환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3310128"/>
            <a:ext cx="155448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EB5BF"/>
                </a:solidFill>
                <a:latin typeface="Noto Sans CJK KR"/>
              </a:rPr>
              <a:t>Encoding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00032" y="3090672"/>
            <a:ext cx="310896" cy="0"/>
          </a:xfrm>
          <a:prstGeom prst="line">
            <a:avLst/>
          </a:prstGeom>
          <a:ln w="31750">
            <a:solidFill>
              <a:srgbClr val="AEB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84080" y="1965960"/>
            <a:ext cx="1874519" cy="2240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3EC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2148840"/>
            <a:ext cx="54864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EC980"/>
                </a:solidFill>
                <a:latin typeface="Noto Sans CJK K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2788920"/>
            <a:ext cx="155448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스케일링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8672" y="3310128"/>
            <a:ext cx="155448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EB5BF"/>
                </a:solidFill>
                <a:latin typeface="Noto Sans CJK KR"/>
              </a:rPr>
              <a:t>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25C5C"/>
                </a:solidFill>
                <a:latin typeface="Noto Sans CJK KR"/>
              </a:rPr>
              <a:t>오늘의 초점  →  “이상치(Outlier)는 어떻게 탐지하고 처리할까?”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이상치(Outlier)란?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다른 관측값들과 비교해 유난히 멀리 떨어진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EB5BF"/>
                </a:solidFill>
                <a:latin typeface="Noto Sans CJK KR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594360" cy="50292"/>
          </a:xfrm>
          <a:prstGeom prst="rect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841248" cy="84124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841248" cy="8412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2228"/>
                </a:solidFill>
                <a:latin typeface="Noto Sans CJK KR"/>
              </a:rPr>
              <a:t>20</a:t>
            </a:r>
          </a:p>
        </p:txBody>
      </p:sp>
      <p:sp>
        <p:nvSpPr>
          <p:cNvPr id="9" name="Oval 8"/>
          <p:cNvSpPr/>
          <p:nvPr/>
        </p:nvSpPr>
        <p:spPr>
          <a:xfrm>
            <a:off x="2194560" y="2057400"/>
            <a:ext cx="841248" cy="84124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057400"/>
            <a:ext cx="841248" cy="8412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2228"/>
                </a:solidFill>
                <a:latin typeface="Noto Sans CJK KR"/>
              </a:rPr>
              <a:t>21</a:t>
            </a:r>
          </a:p>
        </p:txBody>
      </p:sp>
      <p:sp>
        <p:nvSpPr>
          <p:cNvPr id="11" name="Oval 10"/>
          <p:cNvSpPr/>
          <p:nvPr/>
        </p:nvSpPr>
        <p:spPr>
          <a:xfrm>
            <a:off x="3611880" y="2057400"/>
            <a:ext cx="841248" cy="84124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57400"/>
            <a:ext cx="841248" cy="8412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2228"/>
                </a:solidFill>
                <a:latin typeface="Noto Sans CJK KR"/>
              </a:rPr>
              <a:t>23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2057400"/>
            <a:ext cx="841248" cy="84124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057400"/>
            <a:ext cx="841248" cy="8412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2228"/>
                </a:solidFill>
                <a:latin typeface="Noto Sans CJK KR"/>
              </a:rPr>
              <a:t>24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2057400"/>
            <a:ext cx="841248" cy="84124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841248" cy="8412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2228"/>
                </a:solidFill>
                <a:latin typeface="Noto Sans CJK KR"/>
              </a:rPr>
              <a:t>25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2057400"/>
            <a:ext cx="841248" cy="841248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057400"/>
            <a:ext cx="841248" cy="8412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2228"/>
                </a:solidFill>
                <a:latin typeface="Noto Sans CJK KR"/>
              </a:rPr>
              <a:t>22</a:t>
            </a:r>
          </a:p>
        </p:txBody>
      </p:sp>
      <p:sp>
        <p:nvSpPr>
          <p:cNvPr id="19" name="Oval 18"/>
          <p:cNvSpPr/>
          <p:nvPr/>
        </p:nvSpPr>
        <p:spPr>
          <a:xfrm>
            <a:off x="9281160" y="2057400"/>
            <a:ext cx="841248" cy="841248"/>
          </a:xfrm>
          <a:prstGeom prst="ellipse">
            <a:avLst/>
          </a:prstGeom>
          <a:solidFill>
            <a:srgbClr val="F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057400"/>
            <a:ext cx="841248" cy="8412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F2228"/>
                </a:solidFill>
                <a:latin typeface="Noto Sans CJK KR"/>
              </a:rP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154680"/>
            <a:ext cx="1828800" cy="4114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25C5C"/>
                </a:solidFill>
                <a:latin typeface="Noto Sans CJK KR"/>
              </a:rPr>
              <a:t>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566160"/>
            <a:ext cx="3931920" cy="7315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5C5C"/>
                </a:solidFill>
                <a:latin typeface="Noto Sans CJK KR"/>
              </a:rPr>
              <a:t>다른 값들과 크게 떨어져 있음
→ 이상치 후보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983480"/>
            <a:ext cx="10241280" cy="73152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084064"/>
            <a:ext cx="9875520" cy="53035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Noto Sans CJK KR"/>
              </a:rPr>
              <a:t>핵심 질문: 사람이 보지 않아도 컴퓨터가 이상치를 찾아낼 수 있을까?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이상치는 왜 발생할까?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이상치의 원인은 “오류”만이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EB5BF"/>
                </a:solidFill>
                <a:latin typeface="Noto Sans CJK KR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594360" cy="50292"/>
          </a:xfrm>
          <a:prstGeom prst="rect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3383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103120"/>
            <a:ext cx="530352" cy="530352"/>
          </a:xfrm>
          <a:prstGeom prst="ellipse">
            <a:avLst/>
          </a:prstGeom>
          <a:solidFill>
            <a:srgbClr val="F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530352" cy="53035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834640" cy="4114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Noto Sans CJK KR"/>
              </a:rPr>
              <a:t>입력 오류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01568"/>
            <a:ext cx="283464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25C5C"/>
                </a:solidFill>
                <a:latin typeface="Noto Sans CJK KR"/>
              </a:rPr>
              <a:t>나이 = 250세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2834640" cy="5943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EB5BF"/>
                </a:solidFill>
                <a:latin typeface="Noto Sans CJK KR"/>
              </a:rPr>
              <a:t>잘못된 입력·단위·오타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337560" cy="3383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0" y="2103120"/>
            <a:ext cx="530352" cy="530352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530352" cy="53035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88920"/>
            <a:ext cx="2834640" cy="4114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Noto Sans CJK KR"/>
              </a:rPr>
              <a:t>측정 / 수집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01568"/>
            <a:ext cx="283464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3EC980"/>
                </a:solidFill>
                <a:latin typeface="Noto Sans CJK KR"/>
              </a:rPr>
              <a:t>센서 값 급등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160520"/>
            <a:ext cx="2834640" cy="5943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EB5BF"/>
                </a:solidFill>
                <a:latin typeface="Noto Sans CJK KR"/>
              </a:rPr>
              <a:t>장비·통신·수집 과정 문제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337560" cy="3383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2103120"/>
            <a:ext cx="530352" cy="530352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103120"/>
            <a:ext cx="530352" cy="53035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228"/>
                </a:solidFill>
                <a:latin typeface="Noto Sans CJK K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788920"/>
            <a:ext cx="2834640" cy="4114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Noto Sans CJK KR"/>
              </a:rPr>
              <a:t>실제 극단값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401568"/>
            <a:ext cx="283464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3EC980"/>
                </a:solidFill>
                <a:latin typeface="Noto Sans CJK KR"/>
              </a:rPr>
              <a:t>연봉 = 10억 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160520"/>
            <a:ext cx="2834640" cy="5943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EB5BF"/>
                </a:solidFill>
                <a:latin typeface="Noto Sans CJK KR"/>
              </a:rPr>
              <a:t>드물지만 실제 존재하는 관측값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50992"/>
            <a:ext cx="1042416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5F7FA"/>
                </a:solidFill>
                <a:latin typeface="Noto Sans CJK KR"/>
              </a:rPr>
              <a:t>따라서 “이상치 발견”과 “오류 판정”은 같은 일이 아니다.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이상치를 어떻게 찾을까?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대표적인 통계적 탐지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EB5BF"/>
                </a:solidFill>
                <a:latin typeface="Noto Sans CJK KR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594360" cy="50292"/>
          </a:xfrm>
          <a:prstGeom prst="rect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20640" cy="333756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3EC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1828800" cy="4114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3EC980"/>
                </a:solidFill>
                <a:latin typeface="Noto Sans CJK KR"/>
              </a:rPr>
              <a:t>IQR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438912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Q₁(25%)와 Q₃(75%) 사이의 범위를 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438912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Noto Sans CJK KR"/>
              </a:rPr>
              <a:t>IQR = Q₃ − Q₁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438912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AEB5BF"/>
                </a:solidFill>
                <a:latin typeface="Noto Sans CJK KR"/>
              </a:rPr>
              <a:t>분포 가정이 적고 극단값에 비교적 강함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120640" cy="333756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2103120" cy="4114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Z-score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38912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평균에서 몇 표준편차 떨어졌는지 측정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20440"/>
            <a:ext cx="438912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Noto Sans CJK KR"/>
              </a:rPr>
              <a:t>z = (x − μ) / 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60520"/>
            <a:ext cx="438912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AEB5BF"/>
                </a:solidFill>
                <a:latin typeface="Noto Sans CJK KR"/>
              </a:rPr>
              <a:t>보통 |z| &gt; 3을 이상치 후보로 사용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10241280" cy="41148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3EC980"/>
                </a:solidFill>
                <a:latin typeface="Noto Sans CJK KR"/>
              </a:rPr>
              <a:t>이번 발표에서는 직관적인 IQR 방법을 중심으로 살펴본다.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IQR로 이상치를 판단하는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사분위 범위를 이용해 “정상 범위”의 경계를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EB5BF"/>
                </a:solidFill>
                <a:latin typeface="Noto Sans CJK KR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594360" cy="50292"/>
          </a:xfrm>
          <a:prstGeom prst="rect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337560" cy="105156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005840" cy="25603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AEB5BF"/>
                </a:solidFill>
                <a:latin typeface="Noto Sans CJK KR"/>
              </a:rPr>
              <a:t>① 범위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292608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IQR = Q₃ − Q₁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337560" cy="105156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47088"/>
            <a:ext cx="1005840" cy="25603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AEB5BF"/>
                </a:solidFill>
                <a:latin typeface="Noto Sans CJK KR"/>
              </a:rPr>
              <a:t>② 하한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76272"/>
            <a:ext cx="292608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Q₁ − 1.5 × IQR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91640"/>
            <a:ext cx="3337560" cy="105156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847088"/>
            <a:ext cx="1005840" cy="25603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AEB5BF"/>
                </a:solidFill>
                <a:latin typeface="Noto Sans CJK KR"/>
              </a:rPr>
              <a:t>③ 상한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76272"/>
            <a:ext cx="292608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Q₃ + 1.5 × IQR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4069080"/>
            <a:ext cx="7406640" cy="0"/>
          </a:xfrm>
          <a:prstGeom prst="line">
            <a:avLst/>
          </a:prstGeom>
          <a:ln w="2540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34440" y="3794760"/>
            <a:ext cx="0" cy="548640"/>
          </a:xfrm>
          <a:prstGeom prst="line">
            <a:avLst/>
          </a:prstGeom>
          <a:ln w="2540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41080" y="3794760"/>
            <a:ext cx="0" cy="548640"/>
          </a:xfrm>
          <a:prstGeom prst="line">
            <a:avLst/>
          </a:prstGeom>
          <a:ln w="2540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43200" y="3566160"/>
            <a:ext cx="4251960" cy="1005840"/>
          </a:xfrm>
          <a:prstGeom prst="rect">
            <a:avLst/>
          </a:prstGeom>
          <a:solidFill>
            <a:srgbClr val="1F2228"/>
          </a:solidFill>
          <a:ln w="25400">
            <a:solidFill>
              <a:srgbClr val="3EC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29200" y="3566160"/>
            <a:ext cx="0" cy="1005840"/>
          </a:xfrm>
          <a:prstGeom prst="line">
            <a:avLst/>
          </a:prstGeom>
          <a:ln w="38100">
            <a:solidFill>
              <a:srgbClr val="3EC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709160"/>
            <a:ext cx="82296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AEB5BF"/>
                </a:solidFill>
                <a:latin typeface="Noto Sans CJK KR"/>
              </a:rPr>
              <a:t>하한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709160"/>
            <a:ext cx="82296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AEB5BF"/>
                </a:solidFill>
                <a:latin typeface="Noto Sans CJK KR"/>
              </a:rPr>
              <a:t>Q₁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9160"/>
            <a:ext cx="82296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AEB5BF"/>
                </a:solidFill>
                <a:latin typeface="Noto Sans CJK KR"/>
              </a:rPr>
              <a:t>중앙값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09160"/>
            <a:ext cx="82296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AEB5BF"/>
                </a:solidFill>
                <a:latin typeface="Noto Sans CJK KR"/>
              </a:rPr>
              <a:t>Q₃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09160"/>
            <a:ext cx="82296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AEB5BF"/>
                </a:solidFill>
                <a:latin typeface="Noto Sans CJK KR"/>
              </a:rPr>
              <a:t>상한</a:t>
            </a:r>
          </a:p>
        </p:txBody>
      </p:sp>
      <p:sp>
        <p:nvSpPr>
          <p:cNvPr id="26" name="Oval 25"/>
          <p:cNvSpPr/>
          <p:nvPr/>
        </p:nvSpPr>
        <p:spPr>
          <a:xfrm>
            <a:off x="9464040" y="3959352"/>
            <a:ext cx="219456" cy="219456"/>
          </a:xfrm>
          <a:prstGeom prst="ellipse">
            <a:avLst/>
          </a:prstGeom>
          <a:solidFill>
            <a:srgbClr val="F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04120" y="3959352"/>
            <a:ext cx="219456" cy="219456"/>
          </a:xfrm>
          <a:prstGeom prst="ellipse">
            <a:avLst/>
          </a:prstGeom>
          <a:solidFill>
            <a:srgbClr val="F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4709160"/>
            <a:ext cx="155448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25C5C"/>
                </a:solidFill>
                <a:latin typeface="Noto Sans CJK KR"/>
              </a:rPr>
              <a:t>이상치 후보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96128"/>
            <a:ext cx="1060704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25C5C"/>
                </a:solidFill>
                <a:latin typeface="Noto Sans CJK KR"/>
              </a:rPr>
              <a:t>하한보다 작거나 상한보다 크면 → 통계적으로 이상치 후보로 탐지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간단한 IQR 계산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수학적 기준으로 이상치 후보를 자동 탐지할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EB5BF"/>
                </a:solidFill>
                <a:latin typeface="Noto Sans CJK KR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594360" cy="50292"/>
          </a:xfrm>
          <a:prstGeom prst="rect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Noto Sans CJK KR"/>
              </a:rPr>
              <a:t>데이터:  10   12   13   14   15   16   17   18   20 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14600"/>
            <a:ext cx="3246120" cy="13258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2724912"/>
            <a:ext cx="2971800" cy="3840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Noto Sans CJK KR"/>
              </a:rPr>
              <a:t>Q₁ = 12.5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3182112"/>
            <a:ext cx="2971800" cy="3840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3EC980"/>
                </a:solidFill>
                <a:latin typeface="Noto Sans CJK KR"/>
              </a:rPr>
              <a:t>Q₃ = 18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3172968"/>
            <a:ext cx="365760" cy="0"/>
          </a:xfrm>
          <a:prstGeom prst="line">
            <a:avLst/>
          </a:prstGeom>
          <a:ln w="31750">
            <a:solidFill>
              <a:srgbClr val="AEB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17720" y="2514600"/>
            <a:ext cx="3246120" cy="13258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724912"/>
            <a:ext cx="2971800" cy="3840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Noto Sans CJK KR"/>
              </a:rPr>
              <a:t>IQR = 18 − 12.5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82112"/>
            <a:ext cx="2971800" cy="3840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3EC980"/>
                </a:solidFill>
                <a:latin typeface="Noto Sans CJK KR"/>
              </a:rPr>
              <a:t>= 5.5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3172968"/>
            <a:ext cx="365760" cy="0"/>
          </a:xfrm>
          <a:prstGeom prst="line">
            <a:avLst/>
          </a:prstGeom>
          <a:ln w="31750">
            <a:solidFill>
              <a:srgbClr val="AEB5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59" y="2514600"/>
            <a:ext cx="3246120" cy="13258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724912"/>
            <a:ext cx="2971800" cy="3840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Noto Sans CJK KR"/>
              </a:rPr>
              <a:t>하한 = 4.25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182112"/>
            <a:ext cx="2971800" cy="384048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3EC980"/>
                </a:solidFill>
                <a:latin typeface="Noto Sans CJK KR"/>
              </a:rPr>
              <a:t>상한 = 26.25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4434840"/>
            <a:ext cx="8275320" cy="105156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F2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4617720"/>
            <a:ext cx="790956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25C5C"/>
                </a:solidFill>
                <a:latin typeface="Noto Sans CJK KR"/>
              </a:rPr>
              <a:t>50 &gt; 26.25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983480"/>
            <a:ext cx="7909560" cy="3200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Noto Sans CJK KR"/>
              </a:rPr>
              <a:t>→ 50은 이상치 후보로 탐지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Noto Sans CJK KR"/>
              </a:rPr>
              <a:t>이상치로 탐지되면 무조건 삭제할까?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EB5BF"/>
                </a:solidFill>
                <a:latin typeface="Noto Sans CJK KR"/>
              </a:rPr>
              <a:t>통계적 이상치와 잘못된 데이터는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4572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EB5BF"/>
                </a:solidFill>
                <a:latin typeface="Noto Sans CJK KR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594360" cy="50292"/>
          </a:xfrm>
          <a:prstGeom prst="rect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66360" cy="31546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F5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52628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25C5C"/>
                </a:solidFill>
                <a:latin typeface="Noto Sans CJK KR"/>
              </a:rPr>
              <a:t>CASE A · 나이 250세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5262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현실적으로 불가능한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45262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AEB5BF"/>
                </a:solidFill>
                <a:latin typeface="Noto Sans CJK KR"/>
              </a:rPr>
              <a:t>→ 입력 오류 확인 후 수정 /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166360" cy="31546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B4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2628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3EC980"/>
                </a:solidFill>
                <a:latin typeface="Noto Sans CJK KR"/>
              </a:rPr>
              <a:t>CASE B · 연봉 10억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5262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Noto Sans CJK KR"/>
              </a:rPr>
              <a:t>드물지만 실제 존재할 수 있는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2628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AEB5BF"/>
                </a:solidFill>
                <a:latin typeface="Noto Sans CJK KR"/>
              </a:rPr>
              <a:t>→ 사실 확인 후 유지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F5F7FA"/>
                </a:solidFill>
                <a:latin typeface="Noto Sans CJK KR"/>
              </a:rPr>
              <a:t>탐지 → 의미 확인 → 삭제 · 수정 · 대체 · 유지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EC980"/>
                </a:solidFill>
                <a:latin typeface="Noto Sans CJK KR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6858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Noto Sans CJK KR"/>
              </a:rPr>
              <a:t>좋은 분석은 좋은 데이터에서 시작된다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468880"/>
            <a:ext cx="502920" cy="502920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50292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F2228"/>
                </a:solidFill>
                <a:latin typeface="Noto Sans CJK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450592"/>
            <a:ext cx="123444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Noto Sans CJK KR"/>
              </a:rPr>
              <a:t>전처리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50592"/>
            <a:ext cx="804672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AEB5BF"/>
                </a:solidFill>
                <a:latin typeface="Noto Sans CJK KR"/>
              </a:rPr>
              <a:t>결측치·중복·이상치 등을 정리해 데이터 품질을 높인다.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F2228"/>
                </a:solidFill>
                <a:latin typeface="Noto Sans CJK K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502152"/>
            <a:ext cx="123444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Noto Sans CJK KR"/>
              </a:rPr>
              <a:t>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502152"/>
            <a:ext cx="804672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AEB5BF"/>
                </a:solidFill>
                <a:latin typeface="Noto Sans CJK KR"/>
              </a:rPr>
              <a:t>IQR 같은 통계적 기준으로 이상치 후보를 자동으로 찾을 수 있다.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72000"/>
            <a:ext cx="502920" cy="502920"/>
          </a:xfrm>
          <a:prstGeom prst="ellipse">
            <a:avLst/>
          </a:prstGeom>
          <a:solidFill>
            <a:srgbClr val="3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502920" cy="50292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F2228"/>
                </a:solidFill>
                <a:latin typeface="Noto Sans CJK K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53712"/>
            <a:ext cx="123444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Noto Sans CJK KR"/>
              </a:rPr>
              <a:t>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553712"/>
            <a:ext cx="8046720" cy="45720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AEB5BF"/>
                </a:solidFill>
                <a:latin typeface="Noto Sans CJK KR"/>
              </a:rPr>
              <a:t>이상치라고 무조건 삭제하지 않고 의미와 분석 목적을 함께 본다.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EC980"/>
                </a:solidFill>
                <a:latin typeface="Noto Sans CJK KR"/>
              </a:rPr>
              <a:t>Detection  →  Interpretation  → 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