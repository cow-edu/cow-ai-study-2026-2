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오늘 순서: ① LLM이 무엇인지 ② LLM의 한계 ③ 그래서 도입되는 RAG ④ RAG와 즉석 웹 검색의 차이 ⑤ RAG가 검색하는 지식 베이스 ⑥ 우리 프로젝트와의 연결. 이 중 RAG와 지식 베이스에 가장 많은 시간을 쓴다.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LLM은 입력 토큰열을 받아 "다음에 올 토큰이 무엇일지"의 확률분포를 출력하는 모델이다. 한 토큰을 골라 입력 뒤에 붙이고 다시 다음 토큰을 예측하는 과정을 반복해서(자기회귀 방식) 문장을 만든다. 오른쪽 표의 확률은 개념 설명을 위한 가상 값이다. 사전 학습은 방대한 텍스트에서 다음 토큰을 맞히도록 하는 과정이고, 이후 대화에 맞게 추가 조정을 거쳐 ChatGPT·Gemini 같은 서비스가 된다. 우리 프로젝트는 이런 모델을 새로 만들지 않고 공개된 모델을 가져다 쓴다.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환각은 모르는 내용을 사실처럼 말하는 문제, 지식 시점은 학습이 끝난 뒤의 일을 모르는 문제, 비공개 데이터는 학습에 포함되지 않은 자료를 볼 수 없는 문제다. 참고로 요즘 ChatGPT·Gemini는 검색 기능을 켜면 최신 정보에도 답하는데, 이는 모델 바깥에서 자료를 가져와 답에 쓰는 것이라 RAG와 같은 발상이다. 환각의 자세한 원리는 발표에서는 다루지 않는다.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RAG는 LLM의 한계 세 가지를 모델 바깥에서 보완하는 방법이다. 환각은 근거 자료가 프롬프트에 들어 있으면 그 자료에 기대어 답하게 되어 줄어들고(완전히 없어지지는 않는다), 지식 시점과 비공개 데이터 문제는 모델을 다시 만들지 않고 자료만 갱신하면 해결된다. 답에 쓴 자료를 출처로 보여줄 수 있다는 점도 장점이다. 단, 검색이 엉뚱한 자료를 가져오거나 모델이 근거를 무시하면 여전히 틀릴 수 있다. 모델을 다시 만들지 않고 지식 베이스의 자료만 바꾸면 되므로 새 정보를 반영하기 쉽다. 흐름 장 뒤에서 즉석 웹 검색과의 차이를 비교한다.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위 줄은 한 번만 해 두는 준비 단계, 아래 줄은 질문이 들어올 때마다 도는 질의 단계다. 준비 단계에서 자료를 쪼개고 숫자(벡터)로 바꿔 저장해 두면, 질의 단계에서는 질문도 같은 방식으로 벡터로 바꿔 가장 가까운 조각 k개를 가져온다. 그 조각을 질문과 함께 프롬프트로 묶어 LLM에게 주면 LLM이 그 근거를 바탕으로 답한다. 질의 단계의 두 번째 박스가 준비 단계의 벡터 DB를 검색한다는 점을 말로 연결해 줄 것. 검색 품질이 전체 품질을 좌우하므로 검색 방법을 고도화하는 것이 5주차 주제다.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즉석 웹 검색은 LLM이 질문을 받았을 때 검색 도구를 불러 결과 페이지를 읽고 답하는 방식이다(ChatGPT·Gemini의 검색 기능). 넓게 보면 이것도 외부 자료로 답을 보강하므로 RAG의 한 종류로 부르는 사람도 있다. 그래서 발표에서는 "미리 구축한 지식 베이스를 검색하는 RAG"와 "그때그때 웹을 검색하는 방식"으로 구분한다고 먼저 밝히고 시작한다. 크롤링은 둘과 다른 층위의 개념으로, 웹페이지를 자동으로 수집하는 기술이다. 지식 베이스에 넣을 자료를 모을 때 쓸 수 있고, 우리 프로젝트의 TourAPI 수집도 자료를 미리 모으는 같은 단계다. 우리 프로젝트에 미리 구축하는 방식이 맞는 이유: 장소 좌표·사진 벡터·place_id가 있는 장소 카드 DB가 필요하고, 사진 유사도 검색은 웹 검색으로 대신할 수 없으며, 결과가 실제 DB에 있는 장소인지 코드로 검증해야 하기 때문이다. 다만 날씨·이동시간처럼 계속 변하는 정보는 실시간 조회 도구로 가져오므로 실제로는 둘을 섞어 쓴다.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지식 베이스는 RAG가 "근거"를 찾아오는 곳이다. 좋은 답은 좋은 지식 베이스에서 나온다: 자료가 부정확하거나 중복이 많으면 검색 결과도 나빠진다. 저장할 때는 벡터만 넣는 것이 아니라 원문 조각과 출처(메타데이터)를 같이 넣어야 검색 후에 LLM에게 원문을 건네고 출처를 보여줄 수 있다. 벡터 DB(FAISS, Chroma 등)는 벡터를 저장해 두고 가장 가까운 것을 빨리 찾아주는 저장소다. 1주차에 우리가 사진을 임베딩해서 FAISS에 넣는 작업이 바로 이 준비 단계의 사진 버전이다.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임베딩: 임베딩 모델이 글을 고정 길이의 숫자 목록(벡터)으로 바꾼다. 슬라이드의 2차원 값은 이해를 돕기 위한 가상 값이고, 실제 모델은 수백 차원(1주차에 쓰는 CLIP ViT-B/32는 512차원)을 쓴다. 학습 과정에서 의미가 비슷한 글은 가까운 곳에, 다른 글은 먼 곳에 놓이도록 맞춰져 있다. 유사도 검색: 질문도 같은 임베딩 모델로 벡터로 바꾸고(저장할 때 쓴 모델과 반드시 같아야 한다), 저장된 청크 벡터와의 코사인 유사도를 계산해 가장 높은 k개를 가져온다. 코사인 유사도는 두 벡터 사이 각도의 코사인으로 -1~1 사이 값이며 1에 가까울수록 방향이 비슷하다. 표의 예: 질문 (0.9, 0.2)와 청크 A (0.7, 0.4)는 내적 0.71을 두 벡터 길이의 곱(약 0.743)으로 나눠 약 0.96, B는 약 0.70, C는 약 0.32다. 그래서 호수 이야기인 A가 1위가 된다. 이것은 1주차에 사진 검색에서 쓰는 방식(정규화한 벡터의 내적 = 코사인 유사도)과 같은 원리다. 청킹은 이 앞 단계로, 긴 문서를 검색 단위로 자르는 일이다. 문서를 통째로 넣으면 질문과 상관없는 내용이 섞이고 모델 입력 한도에도 부담이 되며, 너무 잘게 자르면 문맥이 끊긴다. 그래서 크기를 정하고 일부를 겹쳐(overlap) 자르기도 한다.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우리 프로젝트도 구조는 RAG와 같다. 다른 점은 지식 베이스가 글 조각이 아니라 장소 카드 모음이고, 검색이 글이 아닌 사진 벡터로 시작한다는 점이다. 생성 단계에서는 검색된 장소 카드에 있는 내용만 근거로 설명하고, 응답에 나온 place_id가 실제 DB에 있는지 코드로 확인해 없는 장소를 0건으로 만드는 것을 목표로 한다. 1주차에 하는 사진 임베딩·FAISS 검색이 이 구조의 앞부분이다. 다음 주 5주차 커리큘럼은 검색 방법 고도화·검증과 RAG 아키텍처 재설계다.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6F3EC"/>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812800"/>
            <a:ext cx="10566400" cy="467360"/>
          </a:xfrm>
          <a:prstGeom prst="rect">
            <a:avLst/>
          </a:prstGeom>
          <a:noFill/>
          <a:ln/>
        </p:spPr>
        <p:txBody>
          <a:bodyPr wrap="square" lIns="0" tIns="0" rIns="0" bIns="0" rtlCol="0" anchor="t"/>
          <a:lstStyle>
            <a:lvl1pPr algn="l" indent="0" marL="0">
              <a:lnSpc>
                <a:spcPct val="115000"/>
              </a:lnSpc>
              <a:buNone/>
              <a:defRPr lang="en-US" sz="3200" dirty="0">
                <a:solidFill>
                  <a:srgbClr val="1B2430"/>
                </a:solidFill>
                <a:latin typeface="Noto Serif KR" pitchFamily="34" charset="0"/>
                <a:ea typeface="Noto Serif KR" pitchFamily="34" charset="-122"/>
                <a:cs typeface="Noto Serif KR"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584960"/>
            <a:ext cx="10566400" cy="4460240"/>
          </a:xfrm>
          <a:prstGeom prst="rect">
            <a:avLst/>
          </a:prstGeom>
          <a:noFill/>
          <a:ln/>
        </p:spPr>
        <p:txBody>
          <a:bodyPr wrap="square" lIns="0" tIns="0" rIns="0" bIns="0" rtlCol="0" anchor="t"/>
          <a:lstStyle>
            <a:lvl1pPr algn="l" indent="0" marL="0">
              <a:lnSpc>
                <a:spcPct val="140000"/>
              </a:lnSpc>
              <a:buNone/>
              <a:defRPr lang="en-US" sz="1600" dirty="0">
                <a:solidFill>
                  <a:srgbClr val="1B2430"/>
                </a:solidFill>
                <a:latin typeface="Noto Sans KR" pitchFamily="34" charset="0"/>
                <a:ea typeface="Noto Sans KR" pitchFamily="34" charset="-122"/>
                <a:cs typeface="Noto Sans KR"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6F3EC"/>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812800"/>
            <a:ext cx="10566400" cy="467360"/>
          </a:xfrm>
          <a:prstGeom prst="rect">
            <a:avLst/>
          </a:prstGeom>
          <a:noFill/>
          <a:ln/>
        </p:spPr>
        <p:txBody>
          <a:bodyPr wrap="square" lIns="0" tIns="0" rIns="0" bIns="0" rtlCol="0" anchor="t"/>
          <a:lstStyle>
            <a:lvl1pPr algn="l" indent="0" marL="0">
              <a:lnSpc>
                <a:spcPct val="115000"/>
              </a:lnSpc>
              <a:buNone/>
              <a:defRPr lang="en-US" sz="3200" dirty="0">
                <a:solidFill>
                  <a:srgbClr val="1B2430"/>
                </a:solidFill>
                <a:latin typeface="Noto Serif KR" pitchFamily="34" charset="0"/>
                <a:ea typeface="Noto Serif KR" pitchFamily="34" charset="-122"/>
                <a:cs typeface="Noto Serif KR"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584960"/>
            <a:ext cx="10566400" cy="4460240"/>
          </a:xfrm>
          <a:prstGeom prst="rect">
            <a:avLst/>
          </a:prstGeom>
          <a:noFill/>
          <a:ln/>
        </p:spPr>
        <p:txBody>
          <a:bodyPr wrap="square" lIns="0" tIns="0" rIns="0" bIns="0" rtlCol="0" anchor="t"/>
          <a:lstStyle>
            <a:lvl1pPr algn="l" indent="0" marL="0">
              <a:lnSpc>
                <a:spcPct val="140000"/>
              </a:lnSpc>
              <a:buNone/>
              <a:defRPr lang="en-US" sz="1600" dirty="0">
                <a:solidFill>
                  <a:srgbClr val="1B2430"/>
                </a:solidFill>
                <a:latin typeface="Noto Sans KR" pitchFamily="34" charset="0"/>
                <a:ea typeface="Noto Sans KR" pitchFamily="34" charset="-122"/>
                <a:cs typeface="Noto Sans KR"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slideLayout" Target="../slideLayouts/slideLayout2.xml"/><Relationship Id="rId7"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slideLayout" Target="../slideLayouts/slideLayout2.xml"/><Relationship Id="rId9"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430"/>
        </a:solidFill>
      </p:bgPr>
    </p:bg>
    <p:spTree>
      <p:nvGrpSpPr>
        <p:cNvPr id="1" name=""/>
        <p:cNvGrpSpPr/>
        <p:nvPr/>
      </p:nvGrpSpPr>
      <p:grpSpPr>
        <a:xfrm>
          <a:off x="0" y="0"/>
          <a:ext cx="0" cy="0"/>
          <a:chOff x="0" y="0"/>
          <a:chExt cx="0" cy="0"/>
        </a:xfrm>
      </p:grpSpPr>
      <p:pic>
        <p:nvPicPr>
          <p:cNvPr id="2" name="Image 0" descr="ellipse">    </p:cNvPr>
          <p:cNvPicPr>
            <a:picLocks noChangeAspect="1"/>
          </p:cNvPicPr>
          <p:nvPr/>
        </p:nvPicPr>
        <p:blipFill>
          <a:blip r:embed="rId1"/>
          <a:srcRect l="0" r="0" t="0" b="0"/>
          <a:stretch/>
        </p:blipFill>
        <p:spPr>
          <a:xfrm>
            <a:off x="7061200" y="1270000"/>
            <a:ext cx="4318000" cy="4318000"/>
          </a:xfrm>
          <a:prstGeom prst="rect">
            <a:avLst/>
          </a:prstGeom>
        </p:spPr>
      </p:pic>
      <p:pic>
        <p:nvPicPr>
          <p:cNvPr id="3" name="Image 1" descr="ellipse">    </p:cNvPr>
          <p:cNvPicPr>
            <a:picLocks noChangeAspect="1"/>
          </p:cNvPicPr>
          <p:nvPr/>
        </p:nvPicPr>
        <p:blipFill>
          <a:blip r:embed="rId2"/>
          <a:srcRect l="0" r="0" t="0" b="0"/>
          <a:stretch/>
        </p:blipFill>
        <p:spPr>
          <a:xfrm>
            <a:off x="7823200" y="2032000"/>
            <a:ext cx="2794000" cy="2794000"/>
          </a:xfrm>
          <a:prstGeom prst="rect">
            <a:avLst/>
          </a:prstGeom>
        </p:spPr>
      </p:pic>
      <p:pic>
        <p:nvPicPr>
          <p:cNvPr id="4" name="Image 2" descr="ellipse">    </p:cNvPr>
          <p:cNvPicPr>
            <a:picLocks noChangeAspect="1"/>
          </p:cNvPicPr>
          <p:nvPr/>
        </p:nvPicPr>
        <p:blipFill>
          <a:blip r:embed="rId3"/>
          <a:srcRect l="0" r="0" t="0" b="0"/>
          <a:stretch/>
        </p:blipFill>
        <p:spPr>
          <a:xfrm>
            <a:off x="8585200" y="2794000"/>
            <a:ext cx="1270000" cy="1270000"/>
          </a:xfrm>
          <a:prstGeom prst="rect">
            <a:avLst/>
          </a:prstGeom>
        </p:spPr>
      </p:pic>
      <p:pic>
        <p:nvPicPr>
          <p:cNvPr id="5" name="Image 3" descr="ellipse">    </p:cNvPr>
          <p:cNvPicPr>
            <a:picLocks noChangeAspect="1"/>
          </p:cNvPicPr>
          <p:nvPr/>
        </p:nvPicPr>
        <p:blipFill>
          <a:blip r:embed="rId4"/>
          <a:srcRect l="0" r="0" t="0" b="0"/>
          <a:stretch/>
        </p:blipFill>
        <p:spPr>
          <a:xfrm>
            <a:off x="9093200" y="3302000"/>
            <a:ext cx="254000" cy="254000"/>
          </a:xfrm>
          <a:prstGeom prst="rect">
            <a:avLst/>
          </a:prstGeom>
        </p:spPr>
      </p:pic>
      <p:sp>
        <p:nvSpPr>
          <p:cNvPr id="6" name="Text 0"/>
          <p:cNvSpPr/>
          <p:nvPr/>
        </p:nvSpPr>
        <p:spPr>
          <a:xfrm>
            <a:off x="812800" y="812800"/>
            <a:ext cx="10883392" cy="309880"/>
          </a:xfrm>
          <a:prstGeom prst="rect">
            <a:avLst/>
          </a:prstGeom>
          <a:noFill/>
          <a:ln/>
        </p:spPr>
        <p:txBody>
          <a:bodyPr wrap="square" lIns="0" tIns="0" rIns="0" bIns="0" rtlCol="0" anchor="t">
            <a:normAutofit/>
          </a:bodyPr>
          <a:lstStyle/>
          <a:p>
            <a:pPr algn="l" indent="0" marL="0">
              <a:lnSpc>
                <a:spcPts val="2240"/>
              </a:lnSpc>
              <a:buNone/>
            </a:pPr>
            <a:r>
              <a:rPr lang="en-US" sz="1600" spc="50" kern="0" dirty="0">
                <a:solidFill>
                  <a:srgbClr val="F59E5B"/>
                </a:solidFill>
                <a:latin typeface="Noto Sans KR" pitchFamily="34" charset="0"/>
                <a:ea typeface="Noto Sans KR" pitchFamily="34" charset="-122"/>
                <a:cs typeface="Noto Sans KR" pitchFamily="34" charset="-120"/>
              </a:rPr>
              <a:t>COW AI팀 1조 · 4주차 세션</a:t>
            </a:r>
            <a:endParaRPr lang="en-US" sz="1600" dirty="0"/>
          </a:p>
        </p:txBody>
      </p:sp>
      <p:pic>
        <p:nvPicPr>
          <p:cNvPr id="7" name="Image 4" descr="line">    </p:cNvPr>
          <p:cNvPicPr>
            <a:picLocks noChangeAspect="1"/>
          </p:cNvPicPr>
          <p:nvPr/>
        </p:nvPicPr>
        <p:blipFill>
          <a:blip r:embed="rId5"/>
          <a:srcRect l="0" r="0" t="0" b="0"/>
          <a:stretch/>
        </p:blipFill>
        <p:spPr>
          <a:xfrm>
            <a:off x="812800" y="2363470"/>
            <a:ext cx="762000" cy="38100"/>
          </a:xfrm>
          <a:prstGeom prst="rect">
            <a:avLst/>
          </a:prstGeom>
        </p:spPr>
      </p:pic>
      <p:sp>
        <p:nvSpPr>
          <p:cNvPr id="8" name="Text 1"/>
          <p:cNvSpPr/>
          <p:nvPr>
            <p:ph type="title"/>
          </p:nvPr>
        </p:nvSpPr>
        <p:spPr>
          <a:xfrm>
            <a:off x="812800" y="2604770"/>
            <a:ext cx="10883392" cy="695960"/>
          </a:xfrm>
          <a:prstGeom prst="rect">
            <a:avLst/>
          </a:prstGeom>
          <a:noFill/>
          <a:ln/>
        </p:spPr>
        <p:txBody>
          <a:bodyPr wrap="square" lIns="0" tIns="0" rIns="0" bIns="0" rtlCol="0" anchor="t">
            <a:normAutofit/>
          </a:bodyPr>
          <a:lstStyle/>
          <a:p>
            <a:pPr algn="l" indent="0" marL="0">
              <a:lnSpc>
                <a:spcPts val="5280"/>
              </a:lnSpc>
              <a:buNone/>
            </a:pPr>
            <a:r>
              <a:rPr lang="en-US" sz="4800" b="1" i="0" dirty="0">
                <a:solidFill>
                  <a:srgbClr val="F6F3EC"/>
                </a:solidFill>
                <a:latin typeface="Noto Serif KR" pitchFamily="18" charset="0"/>
                <a:ea typeface="Noto Serif KR" pitchFamily="18" charset="-122"/>
                <a:cs typeface="Noto Serif KR" pitchFamily="18" charset="-120"/>
              </a:rPr>
              <a:t>RAG 기초</a:t>
            </a:r>
            <a:endParaRPr lang="en-US" sz="4800" dirty="0"/>
          </a:p>
        </p:txBody>
      </p:sp>
      <p:sp>
        <p:nvSpPr>
          <p:cNvPr id="9" name="Text 2"/>
          <p:cNvSpPr/>
          <p:nvPr/>
        </p:nvSpPr>
        <p:spPr>
          <a:xfrm>
            <a:off x="812800" y="3478530"/>
            <a:ext cx="10883392" cy="1041400"/>
          </a:xfrm>
          <a:prstGeom prst="rect">
            <a:avLst/>
          </a:prstGeom>
          <a:noFill/>
          <a:ln/>
        </p:spPr>
        <p:txBody>
          <a:bodyPr wrap="square" lIns="0" tIns="0" rIns="0" bIns="0" rtlCol="0" anchor="t">
            <a:normAutofit/>
          </a:bodyPr>
          <a:lstStyle/>
          <a:p>
            <a:pPr algn="l" indent="0" marL="0">
              <a:lnSpc>
                <a:spcPts val="4000"/>
              </a:lnSpc>
              <a:buNone/>
            </a:pPr>
            <a:r>
              <a:rPr lang="en-US" sz="3200" dirty="0">
                <a:solidFill>
                  <a:srgbClr val="D5DAE2"/>
                </a:solidFill>
                <a:latin typeface="Noto Serif KR" pitchFamily="18" charset="0"/>
                <a:ea typeface="Noto Serif KR" pitchFamily="18" charset="-122"/>
                <a:cs typeface="Noto Serif KR" pitchFamily="18" charset="-120"/>
              </a:rPr>
              <a:t>LLM의 한계에서</a:t>
            </a:r>
            <a:endParaRPr lang="en-US" sz="3200" dirty="0"/>
          </a:p>
          <a:p>
            <a:pPr algn="l" indent="0" marL="0">
              <a:lnSpc>
                <a:spcPts val="4000"/>
              </a:lnSpc>
              <a:buNone/>
            </a:pPr>
            <a:r>
              <a:rPr lang="en-US" sz="3200" dirty="0">
                <a:solidFill>
                  <a:srgbClr val="D5DAE2"/>
                </a:solidFill>
                <a:latin typeface="Noto Serif KR" pitchFamily="18" charset="0"/>
                <a:ea typeface="Noto Serif KR" pitchFamily="18" charset="-122"/>
                <a:cs typeface="Noto Serif KR" pitchFamily="18" charset="-120"/>
              </a:rPr>
              <a:t>지식 베이스까지</a:t>
            </a:r>
            <a:endParaRPr lang="en-US" sz="3200" dirty="0"/>
          </a:p>
        </p:txBody>
      </p:sp>
      <p:sp>
        <p:nvSpPr>
          <p:cNvPr id="10" name="Text 3"/>
          <p:cNvSpPr/>
          <p:nvPr/>
        </p:nvSpPr>
        <p:spPr>
          <a:xfrm>
            <a:off x="812800" y="5760720"/>
            <a:ext cx="10883392"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B8C0CC"/>
                </a:solidFill>
                <a:latin typeface="Noto Sans KR" pitchFamily="34" charset="0"/>
                <a:ea typeface="Noto Sans KR" pitchFamily="34" charset="-122"/>
                <a:cs typeface="Noto Sans KR" pitchFamily="34" charset="-120"/>
              </a:rPr>
              <a:t>2026.10.28 (수) · 발표 김지언</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3EC"/>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B2430"/>
                </a:solidFill>
                <a:latin typeface="Noto Serif KR" pitchFamily="18" charset="0"/>
                <a:ea typeface="Noto Serif KR" pitchFamily="18" charset="-122"/>
                <a:cs typeface="Noto Serif KR" pitchFamily="18" charset="-120"/>
              </a:rPr>
              <a:t>LLM: 다음 토큰을 예측하는 모델</a:t>
            </a:r>
            <a:endParaRPr lang="en-US" sz="3200" dirty="0"/>
          </a:p>
        </p:txBody>
      </p:sp>
      <p:sp>
        <p:nvSpPr>
          <p:cNvPr id="3" name="Text 1"/>
          <p:cNvSpPr/>
          <p:nvPr/>
        </p:nvSpPr>
        <p:spPr>
          <a:xfrm>
            <a:off x="812800" y="1584960"/>
            <a:ext cx="5494020" cy="238760"/>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C2410C"/>
                </a:solidFill>
                <a:latin typeface="Noto Sans KR" pitchFamily="34" charset="0"/>
                <a:ea typeface="Noto Sans KR" pitchFamily="34" charset="-122"/>
                <a:cs typeface="Noto Sans KR" pitchFamily="34" charset="-120"/>
              </a:rPr>
              <a:t>정의</a:t>
            </a:r>
            <a:endParaRPr lang="en-US" sz="1200" dirty="0"/>
          </a:p>
        </p:txBody>
      </p:sp>
      <p:sp>
        <p:nvSpPr>
          <p:cNvPr id="4" name="Text 2"/>
          <p:cNvSpPr/>
          <p:nvPr/>
        </p:nvSpPr>
        <p:spPr>
          <a:xfrm>
            <a:off x="812800" y="1849120"/>
            <a:ext cx="5494020" cy="635000"/>
          </a:xfrm>
          <a:prstGeom prst="rect">
            <a:avLst/>
          </a:prstGeom>
          <a:noFill/>
          <a:ln/>
        </p:spPr>
        <p:txBody>
          <a:bodyPr wrap="square" lIns="0" tIns="0" rIns="0" bIns="0" rtlCol="0" anchor="t">
            <a:normAutofit/>
          </a:bodyPr>
          <a:lstStyle/>
          <a:p>
            <a:pPr algn="l" indent="0" marL="0">
              <a:lnSpc>
                <a:spcPts val="2400"/>
              </a:lnSpc>
              <a:buNone/>
            </a:pPr>
            <a:r>
              <a:rPr lang="en-US" sz="1600" dirty="0">
                <a:solidFill>
                  <a:srgbClr val="1B2430"/>
                </a:solidFill>
                <a:latin typeface="Noto Sans KR" pitchFamily="34" charset="0"/>
                <a:ea typeface="Noto Sans KR" pitchFamily="34" charset="-122"/>
                <a:cs typeface="Noto Sans KR" pitchFamily="34" charset="-120"/>
              </a:rPr>
              <a:t>방대한 텍스트로 학습한 대규모 언어 모델(Large Language Model). 문장을 읽고 이어질 말을 만든다.</a:t>
            </a:r>
            <a:endParaRPr lang="en-US" sz="1600" dirty="0"/>
          </a:p>
        </p:txBody>
      </p:sp>
      <p:sp>
        <p:nvSpPr>
          <p:cNvPr id="5" name="Text 3"/>
          <p:cNvSpPr/>
          <p:nvPr/>
        </p:nvSpPr>
        <p:spPr>
          <a:xfrm>
            <a:off x="812800" y="2712720"/>
            <a:ext cx="5494020" cy="238760"/>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C2410C"/>
                </a:solidFill>
                <a:latin typeface="Noto Sans KR" pitchFamily="34" charset="0"/>
                <a:ea typeface="Noto Sans KR" pitchFamily="34" charset="-122"/>
                <a:cs typeface="Noto Sans KR" pitchFamily="34" charset="-120"/>
              </a:rPr>
              <a:t>토큰</a:t>
            </a:r>
            <a:endParaRPr lang="en-US" sz="1200" dirty="0"/>
          </a:p>
        </p:txBody>
      </p:sp>
      <p:sp>
        <p:nvSpPr>
          <p:cNvPr id="6" name="Text 4"/>
          <p:cNvSpPr/>
          <p:nvPr/>
        </p:nvSpPr>
        <p:spPr>
          <a:xfrm>
            <a:off x="812800" y="2976880"/>
            <a:ext cx="5494020" cy="635000"/>
          </a:xfrm>
          <a:prstGeom prst="rect">
            <a:avLst/>
          </a:prstGeom>
          <a:noFill/>
          <a:ln/>
        </p:spPr>
        <p:txBody>
          <a:bodyPr wrap="square" lIns="0" tIns="0" rIns="0" bIns="0" rtlCol="0" anchor="t">
            <a:normAutofit/>
          </a:bodyPr>
          <a:lstStyle/>
          <a:p>
            <a:pPr algn="l" indent="0" marL="0">
              <a:lnSpc>
                <a:spcPts val="2400"/>
              </a:lnSpc>
              <a:buNone/>
            </a:pPr>
            <a:r>
              <a:rPr lang="en-US" sz="1600" dirty="0">
                <a:solidFill>
                  <a:srgbClr val="1B2430"/>
                </a:solidFill>
                <a:latin typeface="Noto Sans KR" pitchFamily="34" charset="0"/>
                <a:ea typeface="Noto Sans KR" pitchFamily="34" charset="-122"/>
                <a:cs typeface="Noto Sans KR" pitchFamily="34" charset="-120"/>
              </a:rPr>
              <a:t>모델이 글을 다루는 최소 단위. 단어 또는 단어 조각이며, 모델마다 쪼개는 방식이 다르다.</a:t>
            </a:r>
            <a:endParaRPr lang="en-US" sz="1600" dirty="0"/>
          </a:p>
        </p:txBody>
      </p:sp>
      <p:sp>
        <p:nvSpPr>
          <p:cNvPr id="7" name="Text 5"/>
          <p:cNvSpPr/>
          <p:nvPr/>
        </p:nvSpPr>
        <p:spPr>
          <a:xfrm>
            <a:off x="812800" y="3840480"/>
            <a:ext cx="5494020" cy="238760"/>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C2410C"/>
                </a:solidFill>
                <a:latin typeface="Noto Sans KR" pitchFamily="34" charset="0"/>
                <a:ea typeface="Noto Sans KR" pitchFamily="34" charset="-122"/>
                <a:cs typeface="Noto Sans KR" pitchFamily="34" charset="-120"/>
              </a:rPr>
              <a:t>서비스</a:t>
            </a:r>
            <a:endParaRPr lang="en-US" sz="1200" dirty="0"/>
          </a:p>
        </p:txBody>
      </p:sp>
      <p:sp>
        <p:nvSpPr>
          <p:cNvPr id="8" name="Text 6"/>
          <p:cNvSpPr/>
          <p:nvPr/>
        </p:nvSpPr>
        <p:spPr>
          <a:xfrm>
            <a:off x="812800" y="4104640"/>
            <a:ext cx="5494020" cy="330200"/>
          </a:xfrm>
          <a:prstGeom prst="rect">
            <a:avLst/>
          </a:prstGeom>
          <a:noFill/>
          <a:ln/>
        </p:spPr>
        <p:txBody>
          <a:bodyPr wrap="square" lIns="0" tIns="0" rIns="0" bIns="0" rtlCol="0" anchor="t">
            <a:normAutofit/>
          </a:bodyPr>
          <a:lstStyle/>
          <a:p>
            <a:pPr algn="l" indent="0" marL="0">
              <a:lnSpc>
                <a:spcPts val="2400"/>
              </a:lnSpc>
              <a:buNone/>
            </a:pPr>
            <a:r>
              <a:rPr lang="en-US" sz="1600" dirty="0">
                <a:solidFill>
                  <a:srgbClr val="1B2430"/>
                </a:solidFill>
                <a:latin typeface="Noto Sans KR" pitchFamily="34" charset="0"/>
                <a:ea typeface="Noto Sans KR" pitchFamily="34" charset="-122"/>
                <a:cs typeface="Noto Sans KR" pitchFamily="34" charset="-120"/>
              </a:rPr>
              <a:t>ChatGPT와 Gemini는 LLM에 대화 화면을 붙인 서비스다.</a:t>
            </a:r>
            <a:endParaRPr lang="en-US" sz="1600" dirty="0"/>
          </a:p>
        </p:txBody>
      </p:sp>
      <p:sp>
        <p:nvSpPr>
          <p:cNvPr id="9" name="Shape 7"/>
          <p:cNvSpPr/>
          <p:nvPr/>
        </p:nvSpPr>
        <p:spPr>
          <a:xfrm>
            <a:off x="6556375" y="1588135"/>
            <a:ext cx="4819650" cy="3488690"/>
          </a:xfrm>
          <a:prstGeom prst="roundRect">
            <a:avLst>
              <a:gd name="adj" fmla="val 2093"/>
            </a:avLst>
          </a:prstGeom>
          <a:solidFill>
            <a:srgbClr val="FBF9F4"/>
          </a:solidFill>
          <a:ln w="6350">
            <a:solidFill>
              <a:srgbClr val="DDD6C8"/>
            </a:solidFill>
            <a:prstDash val="solid"/>
          </a:ln>
        </p:spPr>
      </p:sp>
      <p:sp>
        <p:nvSpPr>
          <p:cNvPr id="10" name="Text 8"/>
          <p:cNvSpPr/>
          <p:nvPr/>
        </p:nvSpPr>
        <p:spPr>
          <a:xfrm>
            <a:off x="6812280" y="1844040"/>
            <a:ext cx="4437075"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472"/>
                </a:solidFill>
                <a:latin typeface="Noto Sans KR" pitchFamily="34" charset="0"/>
                <a:ea typeface="Noto Sans KR" pitchFamily="34" charset="-122"/>
                <a:cs typeface="Noto Sans KR" pitchFamily="34" charset="-120"/>
              </a:rPr>
              <a:t>다음 토큰 확률 · 설명용 가상 값</a:t>
            </a:r>
            <a:endParaRPr lang="en-US" sz="1200" dirty="0"/>
          </a:p>
        </p:txBody>
      </p:sp>
      <p:sp>
        <p:nvSpPr>
          <p:cNvPr id="11" name="Text 9"/>
          <p:cNvSpPr/>
          <p:nvPr/>
        </p:nvSpPr>
        <p:spPr>
          <a:xfrm>
            <a:off x="6812280" y="2209800"/>
            <a:ext cx="4437075"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B2430"/>
                </a:solidFill>
                <a:latin typeface="Noto Sans KR" pitchFamily="34" charset="0"/>
                <a:ea typeface="Noto Sans KR" pitchFamily="34" charset="-122"/>
                <a:cs typeface="Noto Sans KR" pitchFamily="34" charset="-120"/>
              </a:rPr>
              <a:t>입력: 대한민국의 수도는 ___</a:t>
            </a:r>
            <a:endParaRPr lang="en-US" sz="1600" dirty="0"/>
          </a:p>
        </p:txBody>
      </p:sp>
      <p:sp>
        <p:nvSpPr>
          <p:cNvPr id="12" name="Text 10"/>
          <p:cNvSpPr/>
          <p:nvPr/>
        </p:nvSpPr>
        <p:spPr>
          <a:xfrm>
            <a:off x="6812280" y="2646680"/>
            <a:ext cx="812800"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B2430"/>
                </a:solidFill>
                <a:latin typeface="Noto Sans KR" pitchFamily="34" charset="0"/>
                <a:ea typeface="Noto Sans KR" pitchFamily="34" charset="-122"/>
                <a:cs typeface="Noto Sans KR" pitchFamily="34" charset="-120"/>
              </a:rPr>
              <a:t>서울</a:t>
            </a:r>
            <a:endParaRPr lang="en-US" sz="1600" dirty="0"/>
          </a:p>
        </p:txBody>
      </p:sp>
      <p:sp>
        <p:nvSpPr>
          <p:cNvPr id="13" name="Shape 11"/>
          <p:cNvSpPr/>
          <p:nvPr/>
        </p:nvSpPr>
        <p:spPr>
          <a:xfrm>
            <a:off x="7701280" y="2674620"/>
            <a:ext cx="2336800" cy="228600"/>
          </a:xfrm>
          <a:prstGeom prst="rect">
            <a:avLst/>
          </a:prstGeom>
          <a:solidFill>
            <a:srgbClr val="1F4E8C"/>
          </a:solidFill>
          <a:ln/>
        </p:spPr>
      </p:sp>
      <p:sp>
        <p:nvSpPr>
          <p:cNvPr id="14" name="Text 12"/>
          <p:cNvSpPr/>
          <p:nvPr/>
        </p:nvSpPr>
        <p:spPr>
          <a:xfrm>
            <a:off x="10114280" y="2646680"/>
            <a:ext cx="685800" cy="309880"/>
          </a:xfrm>
          <a:prstGeom prst="rect">
            <a:avLst/>
          </a:prstGeom>
          <a:noFill/>
          <a:ln/>
        </p:spPr>
        <p:txBody>
          <a:bodyPr wrap="square" lIns="0" tIns="0" rIns="0" bIns="0" rtlCol="0" anchor="t">
            <a:normAutofit/>
          </a:bodyPr>
          <a:lstStyle/>
          <a:p>
            <a:pPr algn="r" indent="0" marL="0">
              <a:lnSpc>
                <a:spcPts val="2240"/>
              </a:lnSpc>
              <a:buNone/>
            </a:pPr>
            <a:r>
              <a:rPr lang="en-US" sz="1600" dirty="0">
                <a:solidFill>
                  <a:srgbClr val="1B2430"/>
                </a:solidFill>
                <a:latin typeface="Noto Sans KR" pitchFamily="34" charset="0"/>
                <a:ea typeface="Noto Sans KR" pitchFamily="34" charset="-122"/>
                <a:cs typeface="Noto Sans KR" pitchFamily="34" charset="-120"/>
              </a:rPr>
              <a:t>0.92</a:t>
            </a:r>
            <a:endParaRPr lang="en-US" sz="1600" dirty="0"/>
          </a:p>
        </p:txBody>
      </p:sp>
      <p:sp>
        <p:nvSpPr>
          <p:cNvPr id="15" name="Text 13"/>
          <p:cNvSpPr/>
          <p:nvPr/>
        </p:nvSpPr>
        <p:spPr>
          <a:xfrm>
            <a:off x="6812280" y="3083560"/>
            <a:ext cx="812800"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B2430"/>
                </a:solidFill>
                <a:latin typeface="Noto Sans KR" pitchFamily="34" charset="0"/>
                <a:ea typeface="Noto Sans KR" pitchFamily="34" charset="-122"/>
                <a:cs typeface="Noto Sans KR" pitchFamily="34" charset="-120"/>
              </a:rPr>
              <a:t>부산</a:t>
            </a:r>
            <a:endParaRPr lang="en-US" sz="1600" dirty="0"/>
          </a:p>
        </p:txBody>
      </p:sp>
      <p:sp>
        <p:nvSpPr>
          <p:cNvPr id="16" name="Shape 14"/>
          <p:cNvSpPr/>
          <p:nvPr/>
        </p:nvSpPr>
        <p:spPr>
          <a:xfrm>
            <a:off x="7701280" y="3111500"/>
            <a:ext cx="76200" cy="228600"/>
          </a:xfrm>
          <a:prstGeom prst="rect">
            <a:avLst/>
          </a:prstGeom>
          <a:solidFill>
            <a:srgbClr val="8A94A6"/>
          </a:solidFill>
          <a:ln/>
        </p:spPr>
      </p:sp>
      <p:sp>
        <p:nvSpPr>
          <p:cNvPr id="17" name="Text 15"/>
          <p:cNvSpPr/>
          <p:nvPr/>
        </p:nvSpPr>
        <p:spPr>
          <a:xfrm>
            <a:off x="7853680" y="3083560"/>
            <a:ext cx="685800" cy="309880"/>
          </a:xfrm>
          <a:prstGeom prst="rect">
            <a:avLst/>
          </a:prstGeom>
          <a:noFill/>
          <a:ln/>
        </p:spPr>
        <p:txBody>
          <a:bodyPr wrap="square" lIns="0" tIns="0" rIns="0" bIns="0" rtlCol="0" anchor="t">
            <a:normAutofit/>
          </a:bodyPr>
          <a:lstStyle/>
          <a:p>
            <a:pPr algn="r" indent="0" marL="0">
              <a:lnSpc>
                <a:spcPts val="2240"/>
              </a:lnSpc>
              <a:buNone/>
            </a:pPr>
            <a:r>
              <a:rPr lang="en-US" sz="1600" dirty="0">
                <a:solidFill>
                  <a:srgbClr val="1B2430"/>
                </a:solidFill>
                <a:latin typeface="Noto Sans KR" pitchFamily="34" charset="0"/>
                <a:ea typeface="Noto Sans KR" pitchFamily="34" charset="-122"/>
                <a:cs typeface="Noto Sans KR" pitchFamily="34" charset="-120"/>
              </a:rPr>
              <a:t>0.03</a:t>
            </a:r>
            <a:endParaRPr lang="en-US" sz="1600" dirty="0"/>
          </a:p>
        </p:txBody>
      </p:sp>
      <p:sp>
        <p:nvSpPr>
          <p:cNvPr id="18" name="Text 16"/>
          <p:cNvSpPr/>
          <p:nvPr/>
        </p:nvSpPr>
        <p:spPr>
          <a:xfrm>
            <a:off x="6812280" y="3520440"/>
            <a:ext cx="812800"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B2430"/>
                </a:solidFill>
                <a:latin typeface="Noto Sans KR" pitchFamily="34" charset="0"/>
                <a:ea typeface="Noto Sans KR" pitchFamily="34" charset="-122"/>
                <a:cs typeface="Noto Sans KR" pitchFamily="34" charset="-120"/>
              </a:rPr>
              <a:t>도쿄</a:t>
            </a:r>
            <a:endParaRPr lang="en-US" sz="1600" dirty="0"/>
          </a:p>
        </p:txBody>
      </p:sp>
      <p:sp>
        <p:nvSpPr>
          <p:cNvPr id="19" name="Shape 17"/>
          <p:cNvSpPr/>
          <p:nvPr/>
        </p:nvSpPr>
        <p:spPr>
          <a:xfrm>
            <a:off x="7701280" y="3548380"/>
            <a:ext cx="38100" cy="228600"/>
          </a:xfrm>
          <a:prstGeom prst="rect">
            <a:avLst/>
          </a:prstGeom>
          <a:solidFill>
            <a:srgbClr val="8A94A6"/>
          </a:solidFill>
          <a:ln/>
        </p:spPr>
      </p:sp>
      <p:sp>
        <p:nvSpPr>
          <p:cNvPr id="20" name="Text 18"/>
          <p:cNvSpPr/>
          <p:nvPr/>
        </p:nvSpPr>
        <p:spPr>
          <a:xfrm>
            <a:off x="7815580" y="3520440"/>
            <a:ext cx="685800" cy="309880"/>
          </a:xfrm>
          <a:prstGeom prst="rect">
            <a:avLst/>
          </a:prstGeom>
          <a:noFill/>
          <a:ln/>
        </p:spPr>
        <p:txBody>
          <a:bodyPr wrap="square" lIns="0" tIns="0" rIns="0" bIns="0" rtlCol="0" anchor="t">
            <a:normAutofit/>
          </a:bodyPr>
          <a:lstStyle/>
          <a:p>
            <a:pPr algn="r" indent="0" marL="0">
              <a:lnSpc>
                <a:spcPts val="2240"/>
              </a:lnSpc>
              <a:buNone/>
            </a:pPr>
            <a:r>
              <a:rPr lang="en-US" sz="1600" dirty="0">
                <a:solidFill>
                  <a:srgbClr val="1B2430"/>
                </a:solidFill>
                <a:latin typeface="Noto Sans KR" pitchFamily="34" charset="0"/>
                <a:ea typeface="Noto Sans KR" pitchFamily="34" charset="-122"/>
                <a:cs typeface="Noto Sans KR" pitchFamily="34" charset="-120"/>
              </a:rPr>
              <a:t>0.01</a:t>
            </a:r>
            <a:endParaRPr lang="en-US" sz="1600" dirty="0"/>
          </a:p>
        </p:txBody>
      </p:sp>
      <p:sp>
        <p:nvSpPr>
          <p:cNvPr id="21" name="Text 19"/>
          <p:cNvSpPr/>
          <p:nvPr/>
        </p:nvSpPr>
        <p:spPr>
          <a:xfrm>
            <a:off x="6812280" y="3957320"/>
            <a:ext cx="812800"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B2430"/>
                </a:solidFill>
                <a:latin typeface="Noto Sans KR" pitchFamily="34" charset="0"/>
                <a:ea typeface="Noto Sans KR" pitchFamily="34" charset="-122"/>
                <a:cs typeface="Noto Sans KR" pitchFamily="34" charset="-120"/>
              </a:rPr>
              <a:t>기타</a:t>
            </a:r>
            <a:endParaRPr lang="en-US" sz="1600" dirty="0"/>
          </a:p>
        </p:txBody>
      </p:sp>
      <p:sp>
        <p:nvSpPr>
          <p:cNvPr id="22" name="Shape 20"/>
          <p:cNvSpPr/>
          <p:nvPr/>
        </p:nvSpPr>
        <p:spPr>
          <a:xfrm>
            <a:off x="7701280" y="3985260"/>
            <a:ext cx="101600" cy="228600"/>
          </a:xfrm>
          <a:prstGeom prst="rect">
            <a:avLst/>
          </a:prstGeom>
          <a:solidFill>
            <a:srgbClr val="8A94A6"/>
          </a:solidFill>
          <a:ln/>
        </p:spPr>
      </p:sp>
      <p:sp>
        <p:nvSpPr>
          <p:cNvPr id="23" name="Text 21"/>
          <p:cNvSpPr/>
          <p:nvPr/>
        </p:nvSpPr>
        <p:spPr>
          <a:xfrm>
            <a:off x="7879080" y="3957320"/>
            <a:ext cx="685800" cy="309880"/>
          </a:xfrm>
          <a:prstGeom prst="rect">
            <a:avLst/>
          </a:prstGeom>
          <a:noFill/>
          <a:ln/>
        </p:spPr>
        <p:txBody>
          <a:bodyPr wrap="square" lIns="0" tIns="0" rIns="0" bIns="0" rtlCol="0" anchor="t">
            <a:normAutofit/>
          </a:bodyPr>
          <a:lstStyle/>
          <a:p>
            <a:pPr algn="r" indent="0" marL="0">
              <a:lnSpc>
                <a:spcPts val="2240"/>
              </a:lnSpc>
              <a:buNone/>
            </a:pPr>
            <a:r>
              <a:rPr lang="en-US" sz="1600" dirty="0">
                <a:solidFill>
                  <a:srgbClr val="1B2430"/>
                </a:solidFill>
                <a:latin typeface="Noto Sans KR" pitchFamily="34" charset="0"/>
                <a:ea typeface="Noto Sans KR" pitchFamily="34" charset="-122"/>
                <a:cs typeface="Noto Sans KR" pitchFamily="34" charset="-120"/>
              </a:rPr>
              <a:t>0.04</a:t>
            </a:r>
            <a:endParaRPr lang="en-US" sz="1600" dirty="0"/>
          </a:p>
        </p:txBody>
      </p:sp>
      <p:sp>
        <p:nvSpPr>
          <p:cNvPr id="24" name="Text 22"/>
          <p:cNvSpPr/>
          <p:nvPr/>
        </p:nvSpPr>
        <p:spPr>
          <a:xfrm>
            <a:off x="6812280" y="4394200"/>
            <a:ext cx="4437075"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F4A59"/>
                </a:solidFill>
                <a:latin typeface="Noto Sans KR" pitchFamily="34" charset="0"/>
                <a:ea typeface="Noto Sans KR" pitchFamily="34" charset="-122"/>
                <a:cs typeface="Noto Sans KR" pitchFamily="34" charset="-120"/>
              </a:rPr>
              <a:t>가장 높은 토큰을 고르거나 확률에 따라 뽑아 문장 뒤에 붙이고, 이 과정을 반복한다.</a:t>
            </a:r>
            <a:endParaRPr lang="en-US" sz="1200" dirty="0"/>
          </a:p>
        </p:txBody>
      </p:sp>
      <p:sp>
        <p:nvSpPr>
          <p:cNvPr id="25" name="Text 23"/>
          <p:cNvSpPr/>
          <p:nvPr/>
        </p:nvSpPr>
        <p:spPr>
          <a:xfrm>
            <a:off x="812800" y="6238241"/>
            <a:ext cx="2000726"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472"/>
                </a:solidFill>
                <a:latin typeface="Noto Sans KR" pitchFamily="34" charset="0"/>
                <a:ea typeface="Noto Sans KR" pitchFamily="34" charset="-122"/>
                <a:cs typeface="Noto Sans KR" pitchFamily="34" charset="-120"/>
              </a:rPr>
              <a:t>COW AI팀 1조 · RAG 입문</a:t>
            </a:r>
            <a:endParaRPr lang="en-US" sz="1200" dirty="0"/>
          </a:p>
        </p:txBody>
      </p:sp>
      <p:sp>
        <p:nvSpPr>
          <p:cNvPr id="26" name="Text 24"/>
          <p:cNvSpPr/>
          <p:nvPr/>
        </p:nvSpPr>
        <p:spPr>
          <a:xfrm>
            <a:off x="10566400" y="6238241"/>
            <a:ext cx="812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472"/>
                </a:solidFill>
                <a:latin typeface="Noto Sans KR" pitchFamily="34" charset="0"/>
                <a:ea typeface="Noto Sans KR" pitchFamily="34" charset="-122"/>
                <a:cs typeface="Noto Sans KR" pitchFamily="34" charset="-120"/>
              </a:rPr>
              <a:t>02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3EC"/>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B2430"/>
                </a:solidFill>
                <a:latin typeface="Noto Serif KR" pitchFamily="18" charset="0"/>
                <a:ea typeface="Noto Serif KR" pitchFamily="18" charset="-122"/>
                <a:cs typeface="Noto Serif KR" pitchFamily="18" charset="-120"/>
              </a:rPr>
              <a:t>LLM의 한계 세 가지</a:t>
            </a:r>
            <a:endParaRPr lang="en-US" sz="3200" dirty="0"/>
          </a:p>
        </p:txBody>
      </p:sp>
      <p:sp>
        <p:nvSpPr>
          <p:cNvPr id="3" name="Shape 1"/>
          <p:cNvSpPr/>
          <p:nvPr/>
        </p:nvSpPr>
        <p:spPr>
          <a:xfrm>
            <a:off x="812800" y="1597661"/>
            <a:ext cx="3318907" cy="0"/>
          </a:xfrm>
          <a:prstGeom prst="line">
            <a:avLst/>
          </a:prstGeom>
          <a:noFill/>
          <a:ln w="25400">
            <a:solidFill>
              <a:srgbClr val="1B2430"/>
            </a:solidFill>
            <a:prstDash val="solid"/>
          </a:ln>
        </p:spPr>
      </p:sp>
      <p:sp>
        <p:nvSpPr>
          <p:cNvPr id="4" name="Text 2"/>
          <p:cNvSpPr/>
          <p:nvPr/>
        </p:nvSpPr>
        <p:spPr>
          <a:xfrm>
            <a:off x="812800" y="1788161"/>
            <a:ext cx="3418474" cy="238760"/>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C2410C"/>
                </a:solidFill>
                <a:latin typeface="Noto Sans KR" pitchFamily="34" charset="0"/>
                <a:ea typeface="Noto Sans KR" pitchFamily="34" charset="-122"/>
                <a:cs typeface="Noto Sans KR" pitchFamily="34" charset="-120"/>
              </a:rPr>
              <a:t>01</a:t>
            </a:r>
            <a:endParaRPr lang="en-US" sz="1200" dirty="0"/>
          </a:p>
        </p:txBody>
      </p:sp>
      <p:sp>
        <p:nvSpPr>
          <p:cNvPr id="5" name="Text 3"/>
          <p:cNvSpPr/>
          <p:nvPr/>
        </p:nvSpPr>
        <p:spPr>
          <a:xfrm>
            <a:off x="812800" y="2128520"/>
            <a:ext cx="3418474"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B2430"/>
                </a:solidFill>
                <a:latin typeface="Noto Serif KR" pitchFamily="18" charset="0"/>
                <a:ea typeface="Noto Serif KR" pitchFamily="18" charset="-122"/>
                <a:cs typeface="Noto Serif KR" pitchFamily="18" charset="-120"/>
              </a:rPr>
              <a:t>환각</a:t>
            </a:r>
            <a:endParaRPr lang="en-US" sz="2000" dirty="0"/>
          </a:p>
        </p:txBody>
      </p:sp>
      <p:sp>
        <p:nvSpPr>
          <p:cNvPr id="6" name="Text 4"/>
          <p:cNvSpPr/>
          <p:nvPr/>
        </p:nvSpPr>
        <p:spPr>
          <a:xfrm>
            <a:off x="812800" y="2560320"/>
            <a:ext cx="3418474" cy="635000"/>
          </a:xfrm>
          <a:prstGeom prst="rect">
            <a:avLst/>
          </a:prstGeom>
          <a:noFill/>
          <a:ln/>
        </p:spPr>
        <p:txBody>
          <a:bodyPr wrap="square" lIns="0" tIns="0" rIns="0" bIns="0" rtlCol="0" anchor="t">
            <a:normAutofit/>
          </a:bodyPr>
          <a:lstStyle/>
          <a:p>
            <a:pPr algn="l" indent="0" marL="0">
              <a:lnSpc>
                <a:spcPts val="2400"/>
              </a:lnSpc>
              <a:buNone/>
            </a:pPr>
            <a:r>
              <a:rPr lang="en-US" sz="1600" dirty="0">
                <a:solidFill>
                  <a:srgbClr val="1B2430"/>
                </a:solidFill>
                <a:latin typeface="Noto Sans KR" pitchFamily="34" charset="0"/>
                <a:ea typeface="Noto Sans KR" pitchFamily="34" charset="-122"/>
                <a:cs typeface="Noto Sans KR" pitchFamily="34" charset="-120"/>
              </a:rPr>
              <a:t>사실이 아닌 내용을 그럴듯하게 생성한다.</a:t>
            </a:r>
            <a:endParaRPr lang="en-US" sz="1600" dirty="0"/>
          </a:p>
        </p:txBody>
      </p:sp>
      <p:sp>
        <p:nvSpPr>
          <p:cNvPr id="7" name="Text 5"/>
          <p:cNvSpPr/>
          <p:nvPr/>
        </p:nvSpPr>
        <p:spPr>
          <a:xfrm>
            <a:off x="812800" y="3296920"/>
            <a:ext cx="3418474"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472"/>
                </a:solidFill>
                <a:latin typeface="Noto Sans KR" pitchFamily="34" charset="0"/>
                <a:ea typeface="Noto Sans KR" pitchFamily="34" charset="-122"/>
                <a:cs typeface="Noto Sans KR" pitchFamily="34" charset="-120"/>
              </a:rPr>
              <a:t>예시 질문</a:t>
            </a:r>
            <a:endParaRPr lang="en-US" sz="1200" dirty="0"/>
          </a:p>
        </p:txBody>
      </p:sp>
      <p:sp>
        <p:nvSpPr>
          <p:cNvPr id="8" name="Text 6"/>
          <p:cNvSpPr/>
          <p:nvPr/>
        </p:nvSpPr>
        <p:spPr>
          <a:xfrm>
            <a:off x="812800" y="3637280"/>
            <a:ext cx="3418474" cy="330200"/>
          </a:xfrm>
          <a:prstGeom prst="rect">
            <a:avLst/>
          </a:prstGeom>
          <a:noFill/>
          <a:ln/>
        </p:spPr>
        <p:txBody>
          <a:bodyPr wrap="square" lIns="0" tIns="0" rIns="0" bIns="0" rtlCol="0" anchor="t">
            <a:normAutofit/>
          </a:bodyPr>
          <a:lstStyle/>
          <a:p>
            <a:pPr algn="l" indent="0" marL="0">
              <a:lnSpc>
                <a:spcPts val="2400"/>
              </a:lnSpc>
              <a:buNone/>
            </a:pPr>
            <a:r>
              <a:rPr lang="en-US" sz="1600" dirty="0">
                <a:solidFill>
                  <a:srgbClr val="1F4E8C"/>
                </a:solidFill>
                <a:latin typeface="Noto Sans KR" pitchFamily="34" charset="0"/>
                <a:ea typeface="Noto Sans KR" pitchFamily="34" charset="-122"/>
                <a:cs typeface="Noto Sans KR" pitchFamily="34" charset="-120"/>
              </a:rPr>
              <a:t>“명지대 COW 동아리 회칙을 알려줘”</a:t>
            </a:r>
            <a:endParaRPr lang="en-US" sz="1600" dirty="0"/>
          </a:p>
        </p:txBody>
      </p:sp>
      <p:sp>
        <p:nvSpPr>
          <p:cNvPr id="9" name="Shape 7"/>
          <p:cNvSpPr/>
          <p:nvPr/>
        </p:nvSpPr>
        <p:spPr>
          <a:xfrm>
            <a:off x="4436507" y="1597661"/>
            <a:ext cx="3318907" cy="0"/>
          </a:xfrm>
          <a:prstGeom prst="line">
            <a:avLst/>
          </a:prstGeom>
          <a:noFill/>
          <a:ln w="25400">
            <a:solidFill>
              <a:srgbClr val="1B2430"/>
            </a:solidFill>
            <a:prstDash val="solid"/>
          </a:ln>
        </p:spPr>
      </p:sp>
      <p:sp>
        <p:nvSpPr>
          <p:cNvPr id="10" name="Text 8"/>
          <p:cNvSpPr/>
          <p:nvPr/>
        </p:nvSpPr>
        <p:spPr>
          <a:xfrm>
            <a:off x="4436507" y="1788161"/>
            <a:ext cx="3418474" cy="238760"/>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C2410C"/>
                </a:solidFill>
                <a:latin typeface="Noto Sans KR" pitchFamily="34" charset="0"/>
                <a:ea typeface="Noto Sans KR" pitchFamily="34" charset="-122"/>
                <a:cs typeface="Noto Sans KR" pitchFamily="34" charset="-120"/>
              </a:rPr>
              <a:t>02</a:t>
            </a:r>
            <a:endParaRPr lang="en-US" sz="1200" dirty="0"/>
          </a:p>
        </p:txBody>
      </p:sp>
      <p:sp>
        <p:nvSpPr>
          <p:cNvPr id="11" name="Text 9"/>
          <p:cNvSpPr/>
          <p:nvPr/>
        </p:nvSpPr>
        <p:spPr>
          <a:xfrm>
            <a:off x="4436507" y="2128520"/>
            <a:ext cx="3418474"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B2430"/>
                </a:solidFill>
                <a:latin typeface="Noto Serif KR" pitchFamily="18" charset="0"/>
                <a:ea typeface="Noto Serif KR" pitchFamily="18" charset="-122"/>
                <a:cs typeface="Noto Serif KR" pitchFamily="18" charset="-120"/>
              </a:rPr>
              <a:t>지식 시점</a:t>
            </a:r>
            <a:endParaRPr lang="en-US" sz="2000" dirty="0"/>
          </a:p>
        </p:txBody>
      </p:sp>
      <p:sp>
        <p:nvSpPr>
          <p:cNvPr id="12" name="Text 10"/>
          <p:cNvSpPr/>
          <p:nvPr/>
        </p:nvSpPr>
        <p:spPr>
          <a:xfrm>
            <a:off x="4436507" y="2560320"/>
            <a:ext cx="3418474" cy="635000"/>
          </a:xfrm>
          <a:prstGeom prst="rect">
            <a:avLst/>
          </a:prstGeom>
          <a:noFill/>
          <a:ln/>
        </p:spPr>
        <p:txBody>
          <a:bodyPr wrap="square" lIns="0" tIns="0" rIns="0" bIns="0" rtlCol="0" anchor="t">
            <a:normAutofit/>
          </a:bodyPr>
          <a:lstStyle/>
          <a:p>
            <a:pPr algn="l" indent="0" marL="0">
              <a:lnSpc>
                <a:spcPts val="2400"/>
              </a:lnSpc>
              <a:buNone/>
            </a:pPr>
            <a:r>
              <a:rPr lang="en-US" sz="1600" dirty="0">
                <a:solidFill>
                  <a:srgbClr val="1B2430"/>
                </a:solidFill>
                <a:latin typeface="Noto Sans KR" pitchFamily="34" charset="0"/>
                <a:ea typeface="Noto Sans KR" pitchFamily="34" charset="-122"/>
                <a:cs typeface="Noto Sans KR" pitchFamily="34" charset="-120"/>
              </a:rPr>
              <a:t>학습 데이터를 모은 시점까지의 정보만 안다.</a:t>
            </a:r>
            <a:endParaRPr lang="en-US" sz="1600" dirty="0"/>
          </a:p>
        </p:txBody>
      </p:sp>
      <p:sp>
        <p:nvSpPr>
          <p:cNvPr id="13" name="Text 11"/>
          <p:cNvSpPr/>
          <p:nvPr/>
        </p:nvSpPr>
        <p:spPr>
          <a:xfrm>
            <a:off x="4436507" y="3296920"/>
            <a:ext cx="3418474"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472"/>
                </a:solidFill>
                <a:latin typeface="Noto Sans KR" pitchFamily="34" charset="0"/>
                <a:ea typeface="Noto Sans KR" pitchFamily="34" charset="-122"/>
                <a:cs typeface="Noto Sans KR" pitchFamily="34" charset="-120"/>
              </a:rPr>
              <a:t>예시 질문</a:t>
            </a:r>
            <a:endParaRPr lang="en-US" sz="1200" dirty="0"/>
          </a:p>
        </p:txBody>
      </p:sp>
      <p:sp>
        <p:nvSpPr>
          <p:cNvPr id="14" name="Text 12"/>
          <p:cNvSpPr/>
          <p:nvPr/>
        </p:nvSpPr>
        <p:spPr>
          <a:xfrm>
            <a:off x="4436507" y="3637280"/>
            <a:ext cx="3418474" cy="330200"/>
          </a:xfrm>
          <a:prstGeom prst="rect">
            <a:avLst/>
          </a:prstGeom>
          <a:noFill/>
          <a:ln/>
        </p:spPr>
        <p:txBody>
          <a:bodyPr wrap="square" lIns="0" tIns="0" rIns="0" bIns="0" rtlCol="0" anchor="t">
            <a:normAutofit/>
          </a:bodyPr>
          <a:lstStyle/>
          <a:p>
            <a:pPr algn="l" indent="0" marL="0">
              <a:lnSpc>
                <a:spcPts val="2400"/>
              </a:lnSpc>
              <a:buNone/>
            </a:pPr>
            <a:r>
              <a:rPr lang="en-US" sz="1600" dirty="0">
                <a:solidFill>
                  <a:srgbClr val="1F4E8C"/>
                </a:solidFill>
                <a:latin typeface="Noto Sans KR" pitchFamily="34" charset="0"/>
                <a:ea typeface="Noto Sans KR" pitchFamily="34" charset="-122"/>
                <a:cs typeface="Noto Sans KR" pitchFamily="34" charset="-120"/>
              </a:rPr>
              <a:t>“어제 경기 결과를 알려줘”</a:t>
            </a:r>
            <a:endParaRPr lang="en-US" sz="1600" dirty="0"/>
          </a:p>
        </p:txBody>
      </p:sp>
      <p:sp>
        <p:nvSpPr>
          <p:cNvPr id="15" name="Shape 13"/>
          <p:cNvSpPr/>
          <p:nvPr/>
        </p:nvSpPr>
        <p:spPr>
          <a:xfrm>
            <a:off x="8060214" y="1597661"/>
            <a:ext cx="3318907" cy="0"/>
          </a:xfrm>
          <a:prstGeom prst="line">
            <a:avLst/>
          </a:prstGeom>
          <a:noFill/>
          <a:ln w="25400">
            <a:solidFill>
              <a:srgbClr val="1B2430"/>
            </a:solidFill>
            <a:prstDash val="solid"/>
          </a:ln>
        </p:spPr>
      </p:sp>
      <p:sp>
        <p:nvSpPr>
          <p:cNvPr id="16" name="Text 14"/>
          <p:cNvSpPr/>
          <p:nvPr/>
        </p:nvSpPr>
        <p:spPr>
          <a:xfrm>
            <a:off x="8060214" y="1788161"/>
            <a:ext cx="3418474" cy="238760"/>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C2410C"/>
                </a:solidFill>
                <a:latin typeface="Noto Sans KR" pitchFamily="34" charset="0"/>
                <a:ea typeface="Noto Sans KR" pitchFamily="34" charset="-122"/>
                <a:cs typeface="Noto Sans KR" pitchFamily="34" charset="-120"/>
              </a:rPr>
              <a:t>03</a:t>
            </a:r>
            <a:endParaRPr lang="en-US" sz="1200" dirty="0"/>
          </a:p>
        </p:txBody>
      </p:sp>
      <p:sp>
        <p:nvSpPr>
          <p:cNvPr id="17" name="Text 15"/>
          <p:cNvSpPr/>
          <p:nvPr/>
        </p:nvSpPr>
        <p:spPr>
          <a:xfrm>
            <a:off x="8060214" y="2128520"/>
            <a:ext cx="3418474"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B2430"/>
                </a:solidFill>
                <a:latin typeface="Noto Serif KR" pitchFamily="18" charset="0"/>
                <a:ea typeface="Noto Serif KR" pitchFamily="18" charset="-122"/>
                <a:cs typeface="Noto Serif KR" pitchFamily="18" charset="-120"/>
              </a:rPr>
              <a:t>비공개 데이터</a:t>
            </a:r>
            <a:endParaRPr lang="en-US" sz="2000" dirty="0"/>
          </a:p>
        </p:txBody>
      </p:sp>
      <p:sp>
        <p:nvSpPr>
          <p:cNvPr id="18" name="Text 16"/>
          <p:cNvSpPr/>
          <p:nvPr/>
        </p:nvSpPr>
        <p:spPr>
          <a:xfrm>
            <a:off x="8060214" y="2560320"/>
            <a:ext cx="3418474" cy="635000"/>
          </a:xfrm>
          <a:prstGeom prst="rect">
            <a:avLst/>
          </a:prstGeom>
          <a:noFill/>
          <a:ln/>
        </p:spPr>
        <p:txBody>
          <a:bodyPr wrap="square" lIns="0" tIns="0" rIns="0" bIns="0" rtlCol="0" anchor="t">
            <a:normAutofit/>
          </a:bodyPr>
          <a:lstStyle/>
          <a:p>
            <a:pPr algn="l" indent="0" marL="0">
              <a:lnSpc>
                <a:spcPts val="2400"/>
              </a:lnSpc>
              <a:buNone/>
            </a:pPr>
            <a:r>
              <a:rPr lang="en-US" sz="1600" dirty="0">
                <a:solidFill>
                  <a:srgbClr val="1B2430"/>
                </a:solidFill>
                <a:latin typeface="Noto Sans KR" pitchFamily="34" charset="0"/>
                <a:ea typeface="Noto Sans KR" pitchFamily="34" charset="-122"/>
                <a:cs typeface="Noto Sans KR" pitchFamily="34" charset="-120"/>
              </a:rPr>
              <a:t>학습에 없던 개인·조직의 자료는 알 수 없다.</a:t>
            </a:r>
            <a:endParaRPr lang="en-US" sz="1600" dirty="0"/>
          </a:p>
        </p:txBody>
      </p:sp>
      <p:sp>
        <p:nvSpPr>
          <p:cNvPr id="19" name="Text 17"/>
          <p:cNvSpPr/>
          <p:nvPr/>
        </p:nvSpPr>
        <p:spPr>
          <a:xfrm>
            <a:off x="8060214" y="3296920"/>
            <a:ext cx="3418474"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472"/>
                </a:solidFill>
                <a:latin typeface="Noto Sans KR" pitchFamily="34" charset="0"/>
                <a:ea typeface="Noto Sans KR" pitchFamily="34" charset="-122"/>
                <a:cs typeface="Noto Sans KR" pitchFamily="34" charset="-120"/>
              </a:rPr>
              <a:t>예시 질문</a:t>
            </a:r>
            <a:endParaRPr lang="en-US" sz="1200" dirty="0"/>
          </a:p>
        </p:txBody>
      </p:sp>
      <p:sp>
        <p:nvSpPr>
          <p:cNvPr id="20" name="Text 18"/>
          <p:cNvSpPr/>
          <p:nvPr/>
        </p:nvSpPr>
        <p:spPr>
          <a:xfrm>
            <a:off x="8060214" y="3637280"/>
            <a:ext cx="3418474" cy="635000"/>
          </a:xfrm>
          <a:prstGeom prst="rect">
            <a:avLst/>
          </a:prstGeom>
          <a:noFill/>
          <a:ln/>
        </p:spPr>
        <p:txBody>
          <a:bodyPr wrap="square" lIns="0" tIns="0" rIns="0" bIns="0" rtlCol="0" anchor="t">
            <a:normAutofit/>
          </a:bodyPr>
          <a:lstStyle/>
          <a:p>
            <a:pPr algn="l" indent="0" marL="0">
              <a:lnSpc>
                <a:spcPts val="2400"/>
              </a:lnSpc>
              <a:buNone/>
            </a:pPr>
            <a:r>
              <a:rPr lang="en-US" sz="1600" dirty="0">
                <a:solidFill>
                  <a:srgbClr val="1F4E8C"/>
                </a:solidFill>
                <a:latin typeface="Noto Sans KR" pitchFamily="34" charset="0"/>
                <a:ea typeface="Noto Sans KR" pitchFamily="34" charset="-122"/>
                <a:cs typeface="Noto Sans KR" pitchFamily="34" charset="-120"/>
              </a:rPr>
              <a:t>“우리 팀 장소 데이터에서 호수를 추천해줘”</a:t>
            </a:r>
            <a:endParaRPr lang="en-US" sz="1600" dirty="0"/>
          </a:p>
        </p:txBody>
      </p:sp>
      <p:sp>
        <p:nvSpPr>
          <p:cNvPr id="21" name="Text 19"/>
          <p:cNvSpPr/>
          <p:nvPr/>
        </p:nvSpPr>
        <p:spPr>
          <a:xfrm>
            <a:off x="812800" y="4551680"/>
            <a:ext cx="10883392" cy="330200"/>
          </a:xfrm>
          <a:prstGeom prst="rect">
            <a:avLst/>
          </a:prstGeom>
          <a:noFill/>
          <a:ln/>
        </p:spPr>
        <p:txBody>
          <a:bodyPr wrap="square" lIns="0" tIns="0" rIns="0" bIns="0" rtlCol="0" anchor="t">
            <a:normAutofit/>
          </a:bodyPr>
          <a:lstStyle/>
          <a:p>
            <a:pPr algn="l" indent="0" marL="0">
              <a:lnSpc>
                <a:spcPts val="2400"/>
              </a:lnSpc>
              <a:buNone/>
            </a:pPr>
            <a:r>
              <a:rPr lang="en-US" sz="1600" b="1" dirty="0">
                <a:solidFill>
                  <a:srgbClr val="C2410C"/>
                </a:solidFill>
                <a:latin typeface="Noto Sans KR" pitchFamily="34" charset="0"/>
                <a:ea typeface="Noto Sans KR" pitchFamily="34" charset="-122"/>
                <a:cs typeface="Noto Sans KR" pitchFamily="34" charset="-120"/>
              </a:rPr>
              <a:t>세 가지 모두 모델 바깥의 정보를 근거로 건네주면 완화할 수 있다. 이것이 RAG의 출발점이다.</a:t>
            </a:r>
            <a:endParaRPr lang="en-US" sz="1600" dirty="0"/>
          </a:p>
        </p:txBody>
      </p:sp>
      <p:sp>
        <p:nvSpPr>
          <p:cNvPr id="22" name="Text 20"/>
          <p:cNvSpPr/>
          <p:nvPr/>
        </p:nvSpPr>
        <p:spPr>
          <a:xfrm>
            <a:off x="812800" y="6238241"/>
            <a:ext cx="2000726"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472"/>
                </a:solidFill>
                <a:latin typeface="Noto Sans KR" pitchFamily="34" charset="0"/>
                <a:ea typeface="Noto Sans KR" pitchFamily="34" charset="-122"/>
                <a:cs typeface="Noto Sans KR" pitchFamily="34" charset="-120"/>
              </a:rPr>
              <a:t>COW AI팀 1조 · RAG 입문</a:t>
            </a:r>
            <a:endParaRPr lang="en-US" sz="1200" dirty="0"/>
          </a:p>
        </p:txBody>
      </p:sp>
      <p:sp>
        <p:nvSpPr>
          <p:cNvPr id="23" name="Text 21"/>
          <p:cNvSpPr/>
          <p:nvPr/>
        </p:nvSpPr>
        <p:spPr>
          <a:xfrm>
            <a:off x="10566400" y="6238241"/>
            <a:ext cx="812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472"/>
                </a:solidFill>
                <a:latin typeface="Noto Sans KR" pitchFamily="34" charset="0"/>
                <a:ea typeface="Noto Sans KR" pitchFamily="34" charset="-122"/>
                <a:cs typeface="Noto Sans KR" pitchFamily="34" charset="-120"/>
              </a:rPr>
              <a:t>03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B2430"/>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F6F3EC"/>
                </a:solidFill>
                <a:latin typeface="Noto Serif KR" pitchFamily="18" charset="0"/>
                <a:ea typeface="Noto Serif KR" pitchFamily="18" charset="-122"/>
                <a:cs typeface="Noto Serif KR" pitchFamily="18" charset="-120"/>
              </a:rPr>
              <a:t>RAG: 검색한 근거로 답하는 방식</a:t>
            </a:r>
            <a:endParaRPr lang="en-US" sz="3200" dirty="0"/>
          </a:p>
        </p:txBody>
      </p:sp>
      <p:sp>
        <p:nvSpPr>
          <p:cNvPr id="3" name="Text 1"/>
          <p:cNvSpPr/>
          <p:nvPr/>
        </p:nvSpPr>
        <p:spPr>
          <a:xfrm>
            <a:off x="812800" y="1584961"/>
            <a:ext cx="10883392" cy="635000"/>
          </a:xfrm>
          <a:prstGeom prst="rect">
            <a:avLst/>
          </a:prstGeom>
          <a:noFill/>
          <a:ln/>
        </p:spPr>
        <p:txBody>
          <a:bodyPr wrap="square" lIns="0" tIns="0" rIns="0" bIns="0" rtlCol="0" anchor="t">
            <a:normAutofit/>
          </a:bodyPr>
          <a:lstStyle/>
          <a:p>
            <a:pPr algn="l" indent="0" marL="0">
              <a:lnSpc>
                <a:spcPts val="2400"/>
              </a:lnSpc>
              <a:buNone/>
            </a:pPr>
            <a:r>
              <a:rPr lang="en-US" sz="1600" b="1" dirty="0">
                <a:solidFill>
                  <a:srgbClr val="F59E5B"/>
                </a:solidFill>
                <a:latin typeface="Noto Sans KR" pitchFamily="34" charset="0"/>
                <a:ea typeface="Noto Sans KR" pitchFamily="34" charset="-122"/>
                <a:cs typeface="Noto Sans KR" pitchFamily="34" charset="-120"/>
              </a:rPr>
              <a:t>Retrieval-Augmented Generation</a:t>
            </a:r>
            <a:r>
              <a:rPr lang="en-US" sz="1600" dirty="0">
                <a:solidFill>
                  <a:srgbClr val="D5DAE2"/>
                </a:solidFill>
                <a:latin typeface="Noto Sans KR" pitchFamily="34" charset="0"/>
                <a:ea typeface="Noto Sans KR" pitchFamily="34" charset="-122"/>
                <a:cs typeface="Noto Sans KR" pitchFamily="34" charset="-120"/>
              </a:rPr>
              <a:t>(검색 증강 생성). 답을 만들기 전에 관련 자료를 먼저 검색하고, 그 자료를 프롬프트에 덧붙여 근거로 삼아 생성한다.</a:t>
            </a:r>
            <a:endParaRPr lang="en-US" sz="1600" dirty="0"/>
          </a:p>
        </p:txBody>
      </p:sp>
      <p:sp>
        <p:nvSpPr>
          <p:cNvPr id="4" name="Shape 2"/>
          <p:cNvSpPr/>
          <p:nvPr/>
        </p:nvSpPr>
        <p:spPr>
          <a:xfrm>
            <a:off x="812800" y="2512061"/>
            <a:ext cx="3318907" cy="0"/>
          </a:xfrm>
          <a:prstGeom prst="line">
            <a:avLst/>
          </a:prstGeom>
          <a:noFill/>
          <a:ln w="25400">
            <a:solidFill>
              <a:srgbClr val="F59E5B"/>
            </a:solidFill>
            <a:prstDash val="solid"/>
          </a:ln>
        </p:spPr>
      </p:sp>
      <p:sp>
        <p:nvSpPr>
          <p:cNvPr id="5" name="Text 3"/>
          <p:cNvSpPr/>
          <p:nvPr/>
        </p:nvSpPr>
        <p:spPr>
          <a:xfrm>
            <a:off x="812800" y="2702561"/>
            <a:ext cx="3418474" cy="47244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F59E5B"/>
                </a:solidFill>
                <a:latin typeface="Noto Serif KR" pitchFamily="18" charset="0"/>
                <a:ea typeface="Noto Serif KR" pitchFamily="18" charset="-122"/>
                <a:cs typeface="Noto Serif KR" pitchFamily="18" charset="-120"/>
              </a:rPr>
              <a:t>R</a:t>
            </a:r>
            <a:endParaRPr lang="en-US" sz="3200" dirty="0"/>
          </a:p>
        </p:txBody>
      </p:sp>
      <p:sp>
        <p:nvSpPr>
          <p:cNvPr id="6" name="Text 4"/>
          <p:cNvSpPr/>
          <p:nvPr/>
        </p:nvSpPr>
        <p:spPr>
          <a:xfrm>
            <a:off x="812800" y="3251200"/>
            <a:ext cx="3418474"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F6F3EC"/>
                </a:solidFill>
                <a:latin typeface="Noto Sans KR" pitchFamily="34" charset="0"/>
                <a:ea typeface="Noto Sans KR" pitchFamily="34" charset="-122"/>
                <a:cs typeface="Noto Sans KR" pitchFamily="34" charset="-120"/>
              </a:rPr>
              <a:t>Retrieval · 검색</a:t>
            </a:r>
            <a:endParaRPr lang="en-US" sz="1600" dirty="0"/>
          </a:p>
        </p:txBody>
      </p:sp>
      <p:sp>
        <p:nvSpPr>
          <p:cNvPr id="7" name="Text 5"/>
          <p:cNvSpPr/>
          <p:nvPr/>
        </p:nvSpPr>
        <p:spPr>
          <a:xfrm>
            <a:off x="812800" y="3637280"/>
            <a:ext cx="3418474" cy="635000"/>
          </a:xfrm>
          <a:prstGeom prst="rect">
            <a:avLst/>
          </a:prstGeom>
          <a:noFill/>
          <a:ln/>
        </p:spPr>
        <p:txBody>
          <a:bodyPr wrap="square" lIns="0" tIns="0" rIns="0" bIns="0" rtlCol="0" anchor="t">
            <a:normAutofit/>
          </a:bodyPr>
          <a:lstStyle/>
          <a:p>
            <a:pPr algn="l" indent="0" marL="0">
              <a:lnSpc>
                <a:spcPts val="2400"/>
              </a:lnSpc>
              <a:buNone/>
            </a:pPr>
            <a:r>
              <a:rPr lang="en-US" sz="1600" dirty="0">
                <a:solidFill>
                  <a:srgbClr val="D5DAE2"/>
                </a:solidFill>
                <a:latin typeface="Noto Sans KR" pitchFamily="34" charset="0"/>
                <a:ea typeface="Noto Sans KR" pitchFamily="34" charset="-122"/>
                <a:cs typeface="Noto Sans KR" pitchFamily="34" charset="-120"/>
              </a:rPr>
              <a:t>질문과 관련된 자료를 지식 베이스에서 찾는다.</a:t>
            </a:r>
            <a:endParaRPr lang="en-US" sz="1600" dirty="0"/>
          </a:p>
        </p:txBody>
      </p:sp>
      <p:sp>
        <p:nvSpPr>
          <p:cNvPr id="8" name="Shape 6"/>
          <p:cNvSpPr/>
          <p:nvPr/>
        </p:nvSpPr>
        <p:spPr>
          <a:xfrm>
            <a:off x="4436507" y="2512061"/>
            <a:ext cx="3318907" cy="0"/>
          </a:xfrm>
          <a:prstGeom prst="line">
            <a:avLst/>
          </a:prstGeom>
          <a:noFill/>
          <a:ln w="25400">
            <a:solidFill>
              <a:srgbClr val="F59E5B"/>
            </a:solidFill>
            <a:prstDash val="solid"/>
          </a:ln>
        </p:spPr>
      </p:sp>
      <p:sp>
        <p:nvSpPr>
          <p:cNvPr id="9" name="Text 7"/>
          <p:cNvSpPr/>
          <p:nvPr/>
        </p:nvSpPr>
        <p:spPr>
          <a:xfrm>
            <a:off x="4436507" y="2702561"/>
            <a:ext cx="3418474" cy="47244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F59E5B"/>
                </a:solidFill>
                <a:latin typeface="Noto Serif KR" pitchFamily="18" charset="0"/>
                <a:ea typeface="Noto Serif KR" pitchFamily="18" charset="-122"/>
                <a:cs typeface="Noto Serif KR" pitchFamily="18" charset="-120"/>
              </a:rPr>
              <a:t>A</a:t>
            </a:r>
            <a:endParaRPr lang="en-US" sz="3200" dirty="0"/>
          </a:p>
        </p:txBody>
      </p:sp>
      <p:sp>
        <p:nvSpPr>
          <p:cNvPr id="10" name="Text 8"/>
          <p:cNvSpPr/>
          <p:nvPr/>
        </p:nvSpPr>
        <p:spPr>
          <a:xfrm>
            <a:off x="4436507" y="3251200"/>
            <a:ext cx="3418474"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F6F3EC"/>
                </a:solidFill>
                <a:latin typeface="Noto Sans KR" pitchFamily="34" charset="0"/>
                <a:ea typeface="Noto Sans KR" pitchFamily="34" charset="-122"/>
                <a:cs typeface="Noto Sans KR" pitchFamily="34" charset="-120"/>
              </a:rPr>
              <a:t>Augmented · 증강</a:t>
            </a:r>
            <a:endParaRPr lang="en-US" sz="1600" dirty="0"/>
          </a:p>
        </p:txBody>
      </p:sp>
      <p:sp>
        <p:nvSpPr>
          <p:cNvPr id="11" name="Text 9"/>
          <p:cNvSpPr/>
          <p:nvPr/>
        </p:nvSpPr>
        <p:spPr>
          <a:xfrm>
            <a:off x="4436507" y="3637280"/>
            <a:ext cx="3418474" cy="635000"/>
          </a:xfrm>
          <a:prstGeom prst="rect">
            <a:avLst/>
          </a:prstGeom>
          <a:noFill/>
          <a:ln/>
        </p:spPr>
        <p:txBody>
          <a:bodyPr wrap="square" lIns="0" tIns="0" rIns="0" bIns="0" rtlCol="0" anchor="t">
            <a:normAutofit/>
          </a:bodyPr>
          <a:lstStyle/>
          <a:p>
            <a:pPr algn="l" indent="0" marL="0">
              <a:lnSpc>
                <a:spcPts val="2400"/>
              </a:lnSpc>
              <a:buNone/>
            </a:pPr>
            <a:r>
              <a:rPr lang="en-US" sz="1600" dirty="0">
                <a:solidFill>
                  <a:srgbClr val="D5DAE2"/>
                </a:solidFill>
                <a:latin typeface="Noto Sans KR" pitchFamily="34" charset="0"/>
                <a:ea typeface="Noto Sans KR" pitchFamily="34" charset="-122"/>
                <a:cs typeface="Noto Sans KR" pitchFamily="34" charset="-120"/>
              </a:rPr>
              <a:t>찾은 자료를 질문과 함께 프롬프트에 덧붙인다.</a:t>
            </a:r>
            <a:endParaRPr lang="en-US" sz="1600" dirty="0"/>
          </a:p>
        </p:txBody>
      </p:sp>
      <p:sp>
        <p:nvSpPr>
          <p:cNvPr id="12" name="Shape 10"/>
          <p:cNvSpPr/>
          <p:nvPr/>
        </p:nvSpPr>
        <p:spPr>
          <a:xfrm>
            <a:off x="8060214" y="2512061"/>
            <a:ext cx="3318907" cy="0"/>
          </a:xfrm>
          <a:prstGeom prst="line">
            <a:avLst/>
          </a:prstGeom>
          <a:noFill/>
          <a:ln w="25400">
            <a:solidFill>
              <a:srgbClr val="F59E5B"/>
            </a:solidFill>
            <a:prstDash val="solid"/>
          </a:ln>
        </p:spPr>
      </p:sp>
      <p:sp>
        <p:nvSpPr>
          <p:cNvPr id="13" name="Text 11"/>
          <p:cNvSpPr/>
          <p:nvPr/>
        </p:nvSpPr>
        <p:spPr>
          <a:xfrm>
            <a:off x="8060214" y="2702561"/>
            <a:ext cx="3418474" cy="47244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F59E5B"/>
                </a:solidFill>
                <a:latin typeface="Noto Serif KR" pitchFamily="18" charset="0"/>
                <a:ea typeface="Noto Serif KR" pitchFamily="18" charset="-122"/>
                <a:cs typeface="Noto Serif KR" pitchFamily="18" charset="-120"/>
              </a:rPr>
              <a:t>G</a:t>
            </a:r>
            <a:endParaRPr lang="en-US" sz="3200" dirty="0"/>
          </a:p>
        </p:txBody>
      </p:sp>
      <p:sp>
        <p:nvSpPr>
          <p:cNvPr id="14" name="Text 12"/>
          <p:cNvSpPr/>
          <p:nvPr/>
        </p:nvSpPr>
        <p:spPr>
          <a:xfrm>
            <a:off x="8060214" y="3251200"/>
            <a:ext cx="3418474"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F6F3EC"/>
                </a:solidFill>
                <a:latin typeface="Noto Sans KR" pitchFamily="34" charset="0"/>
                <a:ea typeface="Noto Sans KR" pitchFamily="34" charset="-122"/>
                <a:cs typeface="Noto Sans KR" pitchFamily="34" charset="-120"/>
              </a:rPr>
              <a:t>Generation · 생성</a:t>
            </a:r>
            <a:endParaRPr lang="en-US" sz="1600" dirty="0"/>
          </a:p>
        </p:txBody>
      </p:sp>
      <p:sp>
        <p:nvSpPr>
          <p:cNvPr id="15" name="Text 13"/>
          <p:cNvSpPr/>
          <p:nvPr/>
        </p:nvSpPr>
        <p:spPr>
          <a:xfrm>
            <a:off x="8060214" y="3637280"/>
            <a:ext cx="3418474" cy="635000"/>
          </a:xfrm>
          <a:prstGeom prst="rect">
            <a:avLst/>
          </a:prstGeom>
          <a:noFill/>
          <a:ln/>
        </p:spPr>
        <p:txBody>
          <a:bodyPr wrap="square" lIns="0" tIns="0" rIns="0" bIns="0" rtlCol="0" anchor="t">
            <a:normAutofit/>
          </a:bodyPr>
          <a:lstStyle/>
          <a:p>
            <a:pPr algn="l" indent="0" marL="0">
              <a:lnSpc>
                <a:spcPts val="2400"/>
              </a:lnSpc>
              <a:buNone/>
            </a:pPr>
            <a:r>
              <a:rPr lang="en-US" sz="1600" dirty="0">
                <a:solidFill>
                  <a:srgbClr val="D5DAE2"/>
                </a:solidFill>
                <a:latin typeface="Noto Sans KR" pitchFamily="34" charset="0"/>
                <a:ea typeface="Noto Sans KR" pitchFamily="34" charset="-122"/>
                <a:cs typeface="Noto Sans KR" pitchFamily="34" charset="-120"/>
              </a:rPr>
              <a:t>LLM이 덧붙여진 자료를 근거로 답을 만든다.</a:t>
            </a:r>
            <a:endParaRPr lang="en-US" sz="1600" dirty="0"/>
          </a:p>
        </p:txBody>
      </p:sp>
      <p:sp>
        <p:nvSpPr>
          <p:cNvPr id="16" name="Text 14"/>
          <p:cNvSpPr/>
          <p:nvPr/>
        </p:nvSpPr>
        <p:spPr>
          <a:xfrm>
            <a:off x="812800" y="4551680"/>
            <a:ext cx="10566400" cy="609600"/>
          </a:xfrm>
          <a:prstGeom prst="rect">
            <a:avLst/>
          </a:prstGeom>
          <a:solidFill>
            <a:srgbClr val="252F3E"/>
          </a:solidFill>
          <a:ln/>
        </p:spPr>
        <p:txBody>
          <a:bodyPr wrap="square" lIns="241300" tIns="152400" rIns="0" bIns="127000" rtlCol="0" anchor="t">
            <a:normAutofit/>
          </a:bodyPr>
          <a:lstStyle/>
          <a:p>
            <a:pPr algn="l" indent="0" marL="0">
              <a:lnSpc>
                <a:spcPts val="2400"/>
              </a:lnSpc>
              <a:buNone/>
            </a:pPr>
            <a:r>
              <a:rPr lang="en-US" sz="1600" b="1" dirty="0">
                <a:solidFill>
                  <a:srgbClr val="F6F3EC"/>
                </a:solidFill>
                <a:latin typeface="Noto Sans KR" pitchFamily="34" charset="0"/>
                <a:ea typeface="Noto Sans KR" pitchFamily="34" charset="-122"/>
                <a:cs typeface="Noto Sans KR" pitchFamily="34" charset="-120"/>
              </a:rPr>
              <a:t>한계에 대한 답</a:t>
            </a:r>
            <a:r>
              <a:rPr lang="en-US" sz="1600" dirty="0">
                <a:solidFill>
                  <a:srgbClr val="F6F3EC"/>
                </a:solidFill>
                <a:latin typeface="Noto Sans KR" pitchFamily="34" charset="0"/>
                <a:ea typeface="Noto Sans KR" pitchFamily="34" charset="-122"/>
                <a:cs typeface="Noto Sans KR" pitchFamily="34" charset="-120"/>
              </a:rPr>
              <a:t> 근거 자료를 건네주므로 환각을 줄이고, 학습 이후의 자료와 비공개 자료도 활용할 수 있다.</a:t>
            </a:r>
            <a:endParaRPr lang="en-US" sz="1600" dirty="0"/>
          </a:p>
        </p:txBody>
      </p:sp>
      <p:sp>
        <p:nvSpPr>
          <p:cNvPr id="17" name="Shape 15"/>
          <p:cNvSpPr/>
          <p:nvPr/>
        </p:nvSpPr>
        <p:spPr>
          <a:xfrm>
            <a:off x="831850" y="4551680"/>
            <a:ext cx="0" cy="609600"/>
          </a:xfrm>
          <a:prstGeom prst="line">
            <a:avLst/>
          </a:prstGeom>
          <a:noFill/>
          <a:ln w="38100">
            <a:solidFill>
              <a:srgbClr val="F59E5B"/>
            </a:solidFill>
            <a:prstDash val="solid"/>
          </a:ln>
        </p:spPr>
      </p:sp>
      <p:sp>
        <p:nvSpPr>
          <p:cNvPr id="18" name="Text 16"/>
          <p:cNvSpPr/>
          <p:nvPr/>
        </p:nvSpPr>
        <p:spPr>
          <a:xfrm>
            <a:off x="812800" y="6238239"/>
            <a:ext cx="2000726"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8C0CC"/>
                </a:solidFill>
                <a:latin typeface="Noto Sans KR" pitchFamily="34" charset="0"/>
                <a:ea typeface="Noto Sans KR" pitchFamily="34" charset="-122"/>
                <a:cs typeface="Noto Sans KR" pitchFamily="34" charset="-120"/>
              </a:rPr>
              <a:t>COW AI팀 1조 · RAG 입문</a:t>
            </a:r>
            <a:endParaRPr lang="en-US" sz="1200" dirty="0"/>
          </a:p>
        </p:txBody>
      </p:sp>
      <p:sp>
        <p:nvSpPr>
          <p:cNvPr id="19" name="Text 17"/>
          <p:cNvSpPr/>
          <p:nvPr/>
        </p:nvSpPr>
        <p:spPr>
          <a:xfrm>
            <a:off x="10566400" y="6238239"/>
            <a:ext cx="812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8C0CC"/>
                </a:solidFill>
                <a:latin typeface="Noto Sans KR" pitchFamily="34" charset="0"/>
                <a:ea typeface="Noto Sans KR" pitchFamily="34" charset="-122"/>
                <a:cs typeface="Noto Sans KR" pitchFamily="34" charset="-120"/>
              </a:rPr>
              <a:t>04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3EC"/>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B2430"/>
                </a:solidFill>
                <a:latin typeface="Noto Serif KR" pitchFamily="18" charset="0"/>
                <a:ea typeface="Noto Serif KR" pitchFamily="18" charset="-122"/>
                <a:cs typeface="Noto Serif KR" pitchFamily="18" charset="-120"/>
              </a:rPr>
              <a:t>RAG의 흐름</a:t>
            </a:r>
            <a:endParaRPr lang="en-US" sz="3200" dirty="0"/>
          </a:p>
        </p:txBody>
      </p:sp>
      <p:sp>
        <p:nvSpPr>
          <p:cNvPr id="3" name="Text 1"/>
          <p:cNvSpPr/>
          <p:nvPr/>
        </p:nvSpPr>
        <p:spPr>
          <a:xfrm>
            <a:off x="812800" y="1534161"/>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C2410C"/>
                </a:solidFill>
                <a:latin typeface="Noto Sans KR" pitchFamily="34" charset="0"/>
                <a:ea typeface="Noto Sans KR" pitchFamily="34" charset="-122"/>
                <a:cs typeface="Noto Sans KR" pitchFamily="34" charset="-120"/>
              </a:rPr>
              <a:t>준비 단계 · 한 번만</a:t>
            </a:r>
            <a:endParaRPr lang="en-US" sz="1200" dirty="0"/>
          </a:p>
        </p:txBody>
      </p:sp>
      <p:sp>
        <p:nvSpPr>
          <p:cNvPr id="4" name="Shape 2"/>
          <p:cNvSpPr/>
          <p:nvPr/>
        </p:nvSpPr>
        <p:spPr>
          <a:xfrm>
            <a:off x="815975" y="1826896"/>
            <a:ext cx="1739900" cy="831850"/>
          </a:xfrm>
          <a:prstGeom prst="roundRect">
            <a:avLst>
              <a:gd name="adj" fmla="val 8779"/>
            </a:avLst>
          </a:prstGeom>
          <a:solidFill>
            <a:srgbClr val="FBF9F4"/>
          </a:solidFill>
          <a:ln w="6350">
            <a:solidFill>
              <a:srgbClr val="DDD6C8"/>
            </a:solidFill>
            <a:prstDash val="solid"/>
          </a:ln>
        </p:spPr>
      </p:sp>
      <p:sp>
        <p:nvSpPr>
          <p:cNvPr id="5" name="Text 3"/>
          <p:cNvSpPr/>
          <p:nvPr/>
        </p:nvSpPr>
        <p:spPr>
          <a:xfrm>
            <a:off x="944880" y="1981200"/>
            <a:ext cx="1532890"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B2430"/>
                </a:solidFill>
                <a:latin typeface="Noto Sans KR" pitchFamily="34" charset="0"/>
                <a:ea typeface="Noto Sans KR" pitchFamily="34" charset="-122"/>
                <a:cs typeface="Noto Sans KR" pitchFamily="34" charset="-120"/>
              </a:rPr>
              <a:t>문서 수집</a:t>
            </a:r>
            <a:endParaRPr lang="en-US" sz="1600" dirty="0"/>
          </a:p>
        </p:txBody>
      </p:sp>
      <p:sp>
        <p:nvSpPr>
          <p:cNvPr id="6" name="Text 4"/>
          <p:cNvSpPr/>
          <p:nvPr/>
        </p:nvSpPr>
        <p:spPr>
          <a:xfrm>
            <a:off x="944880" y="2291082"/>
            <a:ext cx="153289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F4A59"/>
                </a:solidFill>
                <a:latin typeface="Noto Sans KR" pitchFamily="34" charset="0"/>
                <a:ea typeface="Noto Sans KR" pitchFamily="34" charset="-122"/>
                <a:cs typeface="Noto Sans KR" pitchFamily="34" charset="-120"/>
              </a:rPr>
              <a:t>PDF·웹·DB 등</a:t>
            </a:r>
            <a:endParaRPr lang="en-US" sz="1200" dirty="0"/>
          </a:p>
        </p:txBody>
      </p:sp>
      <p:pic>
        <p:nvPicPr>
          <p:cNvPr id="7" name="Image 0" descr="arrow-right">    </p:cNvPr>
          <p:cNvPicPr>
            <a:picLocks noChangeAspect="1"/>
          </p:cNvPicPr>
          <p:nvPr/>
        </p:nvPicPr>
        <p:blipFill>
          <a:blip r:embed="rId1"/>
          <a:srcRect l="0" r="0" t="0" b="0"/>
          <a:stretch/>
        </p:blipFill>
        <p:spPr>
          <a:xfrm>
            <a:off x="2635250" y="2166621"/>
            <a:ext cx="304800" cy="152400"/>
          </a:xfrm>
          <a:prstGeom prst="rect">
            <a:avLst/>
          </a:prstGeom>
        </p:spPr>
      </p:pic>
      <p:sp>
        <p:nvSpPr>
          <p:cNvPr id="8" name="Shape 5"/>
          <p:cNvSpPr/>
          <p:nvPr/>
        </p:nvSpPr>
        <p:spPr>
          <a:xfrm>
            <a:off x="3019425" y="1826896"/>
            <a:ext cx="1739900" cy="831850"/>
          </a:xfrm>
          <a:prstGeom prst="roundRect">
            <a:avLst>
              <a:gd name="adj" fmla="val 8779"/>
            </a:avLst>
          </a:prstGeom>
          <a:solidFill>
            <a:srgbClr val="FBF9F4"/>
          </a:solidFill>
          <a:ln w="6350">
            <a:solidFill>
              <a:srgbClr val="DDD6C8"/>
            </a:solidFill>
            <a:prstDash val="solid"/>
          </a:ln>
        </p:spPr>
      </p:sp>
      <p:sp>
        <p:nvSpPr>
          <p:cNvPr id="9" name="Text 6"/>
          <p:cNvSpPr/>
          <p:nvPr/>
        </p:nvSpPr>
        <p:spPr>
          <a:xfrm>
            <a:off x="3148330" y="1981200"/>
            <a:ext cx="1532890"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B2430"/>
                </a:solidFill>
                <a:latin typeface="Noto Sans KR" pitchFamily="34" charset="0"/>
                <a:ea typeface="Noto Sans KR" pitchFamily="34" charset="-122"/>
                <a:cs typeface="Noto Sans KR" pitchFamily="34" charset="-120"/>
              </a:rPr>
              <a:t>청킹</a:t>
            </a:r>
            <a:endParaRPr lang="en-US" sz="1600" dirty="0"/>
          </a:p>
        </p:txBody>
      </p:sp>
      <p:sp>
        <p:nvSpPr>
          <p:cNvPr id="10" name="Text 7"/>
          <p:cNvSpPr/>
          <p:nvPr/>
        </p:nvSpPr>
        <p:spPr>
          <a:xfrm>
            <a:off x="3148330" y="2291082"/>
            <a:ext cx="153289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F4A59"/>
                </a:solidFill>
                <a:latin typeface="Noto Sans KR" pitchFamily="34" charset="0"/>
                <a:ea typeface="Noto Sans KR" pitchFamily="34" charset="-122"/>
                <a:cs typeface="Noto Sans KR" pitchFamily="34" charset="-120"/>
              </a:rPr>
              <a:t>검색 단위로 자르기</a:t>
            </a:r>
            <a:endParaRPr lang="en-US" sz="1200" dirty="0"/>
          </a:p>
        </p:txBody>
      </p:sp>
      <p:pic>
        <p:nvPicPr>
          <p:cNvPr id="11" name="Image 1" descr="arrow-right">    </p:cNvPr>
          <p:cNvPicPr>
            <a:picLocks noChangeAspect="1"/>
          </p:cNvPicPr>
          <p:nvPr/>
        </p:nvPicPr>
        <p:blipFill>
          <a:blip r:embed="rId2"/>
          <a:srcRect l="0" r="0" t="0" b="0"/>
          <a:stretch/>
        </p:blipFill>
        <p:spPr>
          <a:xfrm>
            <a:off x="4838700" y="2166621"/>
            <a:ext cx="304800" cy="152400"/>
          </a:xfrm>
          <a:prstGeom prst="rect">
            <a:avLst/>
          </a:prstGeom>
        </p:spPr>
      </p:pic>
      <p:sp>
        <p:nvSpPr>
          <p:cNvPr id="12" name="Shape 8"/>
          <p:cNvSpPr/>
          <p:nvPr/>
        </p:nvSpPr>
        <p:spPr>
          <a:xfrm>
            <a:off x="5222875" y="1826896"/>
            <a:ext cx="1739900" cy="831850"/>
          </a:xfrm>
          <a:prstGeom prst="roundRect">
            <a:avLst>
              <a:gd name="adj" fmla="val 8779"/>
            </a:avLst>
          </a:prstGeom>
          <a:solidFill>
            <a:srgbClr val="FBF9F4"/>
          </a:solidFill>
          <a:ln w="6350">
            <a:solidFill>
              <a:srgbClr val="DDD6C8"/>
            </a:solidFill>
            <a:prstDash val="solid"/>
          </a:ln>
        </p:spPr>
      </p:sp>
      <p:sp>
        <p:nvSpPr>
          <p:cNvPr id="13" name="Text 9"/>
          <p:cNvSpPr/>
          <p:nvPr/>
        </p:nvSpPr>
        <p:spPr>
          <a:xfrm>
            <a:off x="5351780" y="1981200"/>
            <a:ext cx="1532890"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B2430"/>
                </a:solidFill>
                <a:latin typeface="Noto Sans KR" pitchFamily="34" charset="0"/>
                <a:ea typeface="Noto Sans KR" pitchFamily="34" charset="-122"/>
                <a:cs typeface="Noto Sans KR" pitchFamily="34" charset="-120"/>
              </a:rPr>
              <a:t>임베딩</a:t>
            </a:r>
            <a:endParaRPr lang="en-US" sz="1600" dirty="0"/>
          </a:p>
        </p:txBody>
      </p:sp>
      <p:sp>
        <p:nvSpPr>
          <p:cNvPr id="14" name="Text 10"/>
          <p:cNvSpPr/>
          <p:nvPr/>
        </p:nvSpPr>
        <p:spPr>
          <a:xfrm>
            <a:off x="5351780" y="2291082"/>
            <a:ext cx="153289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F4A59"/>
                </a:solidFill>
                <a:latin typeface="Noto Sans KR" pitchFamily="34" charset="0"/>
                <a:ea typeface="Noto Sans KR" pitchFamily="34" charset="-122"/>
                <a:cs typeface="Noto Sans KR" pitchFamily="34" charset="-120"/>
              </a:rPr>
              <a:t>조각을 벡터로 변환</a:t>
            </a:r>
            <a:endParaRPr lang="en-US" sz="1200" dirty="0"/>
          </a:p>
        </p:txBody>
      </p:sp>
      <p:pic>
        <p:nvPicPr>
          <p:cNvPr id="15" name="Image 2" descr="arrow-right">    </p:cNvPr>
          <p:cNvPicPr>
            <a:picLocks noChangeAspect="1"/>
          </p:cNvPicPr>
          <p:nvPr/>
        </p:nvPicPr>
        <p:blipFill>
          <a:blip r:embed="rId3"/>
          <a:srcRect l="0" r="0" t="0" b="0"/>
          <a:stretch/>
        </p:blipFill>
        <p:spPr>
          <a:xfrm>
            <a:off x="7042150" y="2166621"/>
            <a:ext cx="304800" cy="152400"/>
          </a:xfrm>
          <a:prstGeom prst="rect">
            <a:avLst/>
          </a:prstGeom>
        </p:spPr>
      </p:pic>
      <p:sp>
        <p:nvSpPr>
          <p:cNvPr id="16" name="Shape 11"/>
          <p:cNvSpPr/>
          <p:nvPr/>
        </p:nvSpPr>
        <p:spPr>
          <a:xfrm>
            <a:off x="7426325" y="1826896"/>
            <a:ext cx="1739900" cy="831850"/>
          </a:xfrm>
          <a:prstGeom prst="roundRect">
            <a:avLst>
              <a:gd name="adj" fmla="val 8779"/>
            </a:avLst>
          </a:prstGeom>
          <a:solidFill>
            <a:srgbClr val="FBF9F4"/>
          </a:solidFill>
          <a:ln w="6350">
            <a:solidFill>
              <a:srgbClr val="DDD6C8"/>
            </a:solidFill>
            <a:prstDash val="solid"/>
          </a:ln>
        </p:spPr>
      </p:sp>
      <p:sp>
        <p:nvSpPr>
          <p:cNvPr id="17" name="Text 12"/>
          <p:cNvSpPr/>
          <p:nvPr/>
        </p:nvSpPr>
        <p:spPr>
          <a:xfrm>
            <a:off x="7555230" y="1981200"/>
            <a:ext cx="1532890"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B2430"/>
                </a:solidFill>
                <a:latin typeface="Noto Sans KR" pitchFamily="34" charset="0"/>
                <a:ea typeface="Noto Sans KR" pitchFamily="34" charset="-122"/>
                <a:cs typeface="Noto Sans KR" pitchFamily="34" charset="-120"/>
              </a:rPr>
              <a:t>벡터 DB</a:t>
            </a:r>
            <a:endParaRPr lang="en-US" sz="1600" dirty="0"/>
          </a:p>
        </p:txBody>
      </p:sp>
      <p:sp>
        <p:nvSpPr>
          <p:cNvPr id="18" name="Text 13"/>
          <p:cNvSpPr/>
          <p:nvPr/>
        </p:nvSpPr>
        <p:spPr>
          <a:xfrm>
            <a:off x="7555230" y="2291082"/>
            <a:ext cx="153289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F4A59"/>
                </a:solidFill>
                <a:latin typeface="Noto Sans KR" pitchFamily="34" charset="0"/>
                <a:ea typeface="Noto Sans KR" pitchFamily="34" charset="-122"/>
                <a:cs typeface="Noto Sans KR" pitchFamily="34" charset="-120"/>
              </a:rPr>
              <a:t>벡터와 원문 저장</a:t>
            </a:r>
            <a:endParaRPr lang="en-US" sz="1200" dirty="0"/>
          </a:p>
        </p:txBody>
      </p:sp>
      <p:sp>
        <p:nvSpPr>
          <p:cNvPr id="19" name="Text 14"/>
          <p:cNvSpPr/>
          <p:nvPr/>
        </p:nvSpPr>
        <p:spPr>
          <a:xfrm>
            <a:off x="812800" y="2915921"/>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C2410C"/>
                </a:solidFill>
                <a:latin typeface="Noto Sans KR" pitchFamily="34" charset="0"/>
                <a:ea typeface="Noto Sans KR" pitchFamily="34" charset="-122"/>
                <a:cs typeface="Noto Sans KR" pitchFamily="34" charset="-120"/>
              </a:rPr>
              <a:t>질의 단계 · 요청마다</a:t>
            </a:r>
            <a:endParaRPr lang="en-US" sz="1200" dirty="0"/>
          </a:p>
        </p:txBody>
      </p:sp>
      <p:sp>
        <p:nvSpPr>
          <p:cNvPr id="20" name="Shape 15"/>
          <p:cNvSpPr/>
          <p:nvPr/>
        </p:nvSpPr>
        <p:spPr>
          <a:xfrm>
            <a:off x="812800" y="3312161"/>
            <a:ext cx="1746250" cy="828040"/>
          </a:xfrm>
          <a:prstGeom prst="roundRect">
            <a:avLst>
              <a:gd name="adj" fmla="val 9202"/>
            </a:avLst>
          </a:prstGeom>
          <a:solidFill>
            <a:srgbClr val="1B2430"/>
          </a:solidFill>
          <a:ln/>
        </p:spPr>
      </p:sp>
      <p:sp>
        <p:nvSpPr>
          <p:cNvPr id="21" name="Text 16"/>
          <p:cNvSpPr/>
          <p:nvPr/>
        </p:nvSpPr>
        <p:spPr>
          <a:xfrm>
            <a:off x="939800" y="3464561"/>
            <a:ext cx="1543050"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F6F3EC"/>
                </a:solidFill>
                <a:latin typeface="Noto Sans KR" pitchFamily="34" charset="0"/>
                <a:ea typeface="Noto Sans KR" pitchFamily="34" charset="-122"/>
                <a:cs typeface="Noto Sans KR" pitchFamily="34" charset="-120"/>
              </a:rPr>
              <a:t>질문 임베딩</a:t>
            </a:r>
            <a:endParaRPr lang="en-US" sz="1600" dirty="0"/>
          </a:p>
        </p:txBody>
      </p:sp>
      <p:sp>
        <p:nvSpPr>
          <p:cNvPr id="22" name="Text 17"/>
          <p:cNvSpPr/>
          <p:nvPr/>
        </p:nvSpPr>
        <p:spPr>
          <a:xfrm>
            <a:off x="939800" y="3774439"/>
            <a:ext cx="154305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D5DAE2"/>
                </a:solidFill>
                <a:latin typeface="Noto Sans KR" pitchFamily="34" charset="0"/>
                <a:ea typeface="Noto Sans KR" pitchFamily="34" charset="-122"/>
                <a:cs typeface="Noto Sans KR" pitchFamily="34" charset="-120"/>
              </a:rPr>
              <a:t>질문도 벡터로 변환</a:t>
            </a:r>
            <a:endParaRPr lang="en-US" sz="1200" dirty="0"/>
          </a:p>
        </p:txBody>
      </p:sp>
      <p:pic>
        <p:nvPicPr>
          <p:cNvPr id="23" name="Image 3" descr="arrow-right">    </p:cNvPr>
          <p:cNvPicPr>
            <a:picLocks noChangeAspect="1"/>
          </p:cNvPicPr>
          <p:nvPr/>
        </p:nvPicPr>
        <p:blipFill>
          <a:blip r:embed="rId4"/>
          <a:srcRect l="0" r="0" t="0" b="0"/>
          <a:stretch/>
        </p:blipFill>
        <p:spPr>
          <a:xfrm>
            <a:off x="2635250" y="3649982"/>
            <a:ext cx="304800" cy="152400"/>
          </a:xfrm>
          <a:prstGeom prst="rect">
            <a:avLst/>
          </a:prstGeom>
        </p:spPr>
      </p:pic>
      <p:sp>
        <p:nvSpPr>
          <p:cNvPr id="24" name="Shape 18"/>
          <p:cNvSpPr/>
          <p:nvPr/>
        </p:nvSpPr>
        <p:spPr>
          <a:xfrm>
            <a:off x="3016250" y="3205482"/>
            <a:ext cx="1746250" cy="1041400"/>
          </a:xfrm>
          <a:prstGeom prst="roundRect">
            <a:avLst>
              <a:gd name="adj" fmla="val 7317"/>
            </a:avLst>
          </a:prstGeom>
          <a:solidFill>
            <a:srgbClr val="1B2430"/>
          </a:solidFill>
          <a:ln/>
        </p:spPr>
      </p:sp>
      <p:sp>
        <p:nvSpPr>
          <p:cNvPr id="25" name="Text 19"/>
          <p:cNvSpPr/>
          <p:nvPr/>
        </p:nvSpPr>
        <p:spPr>
          <a:xfrm>
            <a:off x="3143250" y="3357882"/>
            <a:ext cx="1543050"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F6F3EC"/>
                </a:solidFill>
                <a:latin typeface="Noto Sans KR" pitchFamily="34" charset="0"/>
                <a:ea typeface="Noto Sans KR" pitchFamily="34" charset="-122"/>
                <a:cs typeface="Noto Sans KR" pitchFamily="34" charset="-120"/>
              </a:rPr>
              <a:t>청크 검색</a:t>
            </a:r>
            <a:endParaRPr lang="en-US" sz="1600" dirty="0"/>
          </a:p>
        </p:txBody>
      </p:sp>
      <p:sp>
        <p:nvSpPr>
          <p:cNvPr id="26" name="Text 20"/>
          <p:cNvSpPr/>
          <p:nvPr/>
        </p:nvSpPr>
        <p:spPr>
          <a:xfrm>
            <a:off x="3143250" y="3667761"/>
            <a:ext cx="1543050"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D5DAE2"/>
                </a:solidFill>
                <a:latin typeface="Noto Sans KR" pitchFamily="34" charset="0"/>
                <a:ea typeface="Noto Sans KR" pitchFamily="34" charset="-122"/>
                <a:cs typeface="Noto Sans KR" pitchFamily="34" charset="-120"/>
              </a:rPr>
              <a:t>벡터 DB에서 가까운 top-k</a:t>
            </a:r>
            <a:endParaRPr lang="en-US" sz="1200" dirty="0"/>
          </a:p>
        </p:txBody>
      </p:sp>
      <p:pic>
        <p:nvPicPr>
          <p:cNvPr id="27" name="Image 4" descr="arrow-right">    </p:cNvPr>
          <p:cNvPicPr>
            <a:picLocks noChangeAspect="1"/>
          </p:cNvPicPr>
          <p:nvPr/>
        </p:nvPicPr>
        <p:blipFill>
          <a:blip r:embed="rId5"/>
          <a:srcRect l="0" r="0" t="0" b="0"/>
          <a:stretch/>
        </p:blipFill>
        <p:spPr>
          <a:xfrm>
            <a:off x="4838700" y="3649982"/>
            <a:ext cx="304800" cy="152400"/>
          </a:xfrm>
          <a:prstGeom prst="rect">
            <a:avLst/>
          </a:prstGeom>
        </p:spPr>
      </p:pic>
      <p:sp>
        <p:nvSpPr>
          <p:cNvPr id="28" name="Shape 21"/>
          <p:cNvSpPr/>
          <p:nvPr/>
        </p:nvSpPr>
        <p:spPr>
          <a:xfrm>
            <a:off x="5219700" y="3312161"/>
            <a:ext cx="1746250" cy="828040"/>
          </a:xfrm>
          <a:prstGeom prst="roundRect">
            <a:avLst>
              <a:gd name="adj" fmla="val 9202"/>
            </a:avLst>
          </a:prstGeom>
          <a:solidFill>
            <a:srgbClr val="1B2430"/>
          </a:solidFill>
          <a:ln/>
        </p:spPr>
      </p:sp>
      <p:sp>
        <p:nvSpPr>
          <p:cNvPr id="29" name="Text 22"/>
          <p:cNvSpPr/>
          <p:nvPr/>
        </p:nvSpPr>
        <p:spPr>
          <a:xfrm>
            <a:off x="5346700" y="3464561"/>
            <a:ext cx="1543050"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F6F3EC"/>
                </a:solidFill>
                <a:latin typeface="Noto Sans KR" pitchFamily="34" charset="0"/>
                <a:ea typeface="Noto Sans KR" pitchFamily="34" charset="-122"/>
                <a:cs typeface="Noto Sans KR" pitchFamily="34" charset="-120"/>
              </a:rPr>
              <a:t>프롬프트</a:t>
            </a:r>
            <a:endParaRPr lang="en-US" sz="1600" dirty="0"/>
          </a:p>
        </p:txBody>
      </p:sp>
      <p:sp>
        <p:nvSpPr>
          <p:cNvPr id="30" name="Text 23"/>
          <p:cNvSpPr/>
          <p:nvPr/>
        </p:nvSpPr>
        <p:spPr>
          <a:xfrm>
            <a:off x="5346700" y="3774439"/>
            <a:ext cx="154305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D5DAE2"/>
                </a:solidFill>
                <a:latin typeface="Noto Sans KR" pitchFamily="34" charset="0"/>
                <a:ea typeface="Noto Sans KR" pitchFamily="34" charset="-122"/>
                <a:cs typeface="Noto Sans KR" pitchFamily="34" charset="-120"/>
              </a:rPr>
              <a:t>질문 + 근거 자료 결합</a:t>
            </a:r>
            <a:endParaRPr lang="en-US" sz="1200" dirty="0"/>
          </a:p>
        </p:txBody>
      </p:sp>
      <p:pic>
        <p:nvPicPr>
          <p:cNvPr id="31" name="Image 5" descr="arrow-right">    </p:cNvPr>
          <p:cNvPicPr>
            <a:picLocks noChangeAspect="1"/>
          </p:cNvPicPr>
          <p:nvPr/>
        </p:nvPicPr>
        <p:blipFill>
          <a:blip r:embed="rId6"/>
          <a:srcRect l="0" r="0" t="0" b="0"/>
          <a:stretch/>
        </p:blipFill>
        <p:spPr>
          <a:xfrm>
            <a:off x="7042150" y="3649982"/>
            <a:ext cx="304800" cy="152400"/>
          </a:xfrm>
          <a:prstGeom prst="rect">
            <a:avLst/>
          </a:prstGeom>
        </p:spPr>
      </p:pic>
      <p:sp>
        <p:nvSpPr>
          <p:cNvPr id="32" name="Shape 24"/>
          <p:cNvSpPr/>
          <p:nvPr/>
        </p:nvSpPr>
        <p:spPr>
          <a:xfrm>
            <a:off x="7423150" y="3312161"/>
            <a:ext cx="1746250" cy="828040"/>
          </a:xfrm>
          <a:prstGeom prst="roundRect">
            <a:avLst>
              <a:gd name="adj" fmla="val 9202"/>
            </a:avLst>
          </a:prstGeom>
          <a:solidFill>
            <a:srgbClr val="1B2430"/>
          </a:solidFill>
          <a:ln/>
        </p:spPr>
      </p:sp>
      <p:sp>
        <p:nvSpPr>
          <p:cNvPr id="33" name="Text 25"/>
          <p:cNvSpPr/>
          <p:nvPr/>
        </p:nvSpPr>
        <p:spPr>
          <a:xfrm>
            <a:off x="7550150" y="3464561"/>
            <a:ext cx="1543050"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F6F3EC"/>
                </a:solidFill>
                <a:latin typeface="Noto Sans KR" pitchFamily="34" charset="0"/>
                <a:ea typeface="Noto Sans KR" pitchFamily="34" charset="-122"/>
                <a:cs typeface="Noto Sans KR" pitchFamily="34" charset="-120"/>
              </a:rPr>
              <a:t>LLM 생성</a:t>
            </a:r>
            <a:endParaRPr lang="en-US" sz="1600" dirty="0"/>
          </a:p>
        </p:txBody>
      </p:sp>
      <p:sp>
        <p:nvSpPr>
          <p:cNvPr id="34" name="Text 26"/>
          <p:cNvSpPr/>
          <p:nvPr/>
        </p:nvSpPr>
        <p:spPr>
          <a:xfrm>
            <a:off x="7550150" y="3774439"/>
            <a:ext cx="154305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D5DAE2"/>
                </a:solidFill>
                <a:latin typeface="Noto Sans KR" pitchFamily="34" charset="0"/>
                <a:ea typeface="Noto Sans KR" pitchFamily="34" charset="-122"/>
                <a:cs typeface="Noto Sans KR" pitchFamily="34" charset="-120"/>
              </a:rPr>
              <a:t>근거에 기대어 답변</a:t>
            </a:r>
            <a:endParaRPr lang="en-US" sz="1200" dirty="0"/>
          </a:p>
        </p:txBody>
      </p:sp>
      <p:pic>
        <p:nvPicPr>
          <p:cNvPr id="35" name="Image 6" descr="arrow-right">    </p:cNvPr>
          <p:cNvPicPr>
            <a:picLocks noChangeAspect="1"/>
          </p:cNvPicPr>
          <p:nvPr/>
        </p:nvPicPr>
        <p:blipFill>
          <a:blip r:embed="rId7"/>
          <a:srcRect l="0" r="0" t="0" b="0"/>
          <a:stretch/>
        </p:blipFill>
        <p:spPr>
          <a:xfrm>
            <a:off x="9245600" y="3649982"/>
            <a:ext cx="304800" cy="152400"/>
          </a:xfrm>
          <a:prstGeom prst="rect">
            <a:avLst/>
          </a:prstGeom>
        </p:spPr>
      </p:pic>
      <p:sp>
        <p:nvSpPr>
          <p:cNvPr id="36" name="Shape 27"/>
          <p:cNvSpPr/>
          <p:nvPr/>
        </p:nvSpPr>
        <p:spPr>
          <a:xfrm>
            <a:off x="9626600" y="3312161"/>
            <a:ext cx="1746250" cy="828040"/>
          </a:xfrm>
          <a:prstGeom prst="roundRect">
            <a:avLst>
              <a:gd name="adj" fmla="val 9202"/>
            </a:avLst>
          </a:prstGeom>
          <a:solidFill>
            <a:srgbClr val="1B2430"/>
          </a:solidFill>
          <a:ln/>
        </p:spPr>
      </p:sp>
      <p:sp>
        <p:nvSpPr>
          <p:cNvPr id="37" name="Text 28"/>
          <p:cNvSpPr/>
          <p:nvPr/>
        </p:nvSpPr>
        <p:spPr>
          <a:xfrm>
            <a:off x="9753600" y="3464561"/>
            <a:ext cx="1543050"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F6F3EC"/>
                </a:solidFill>
                <a:latin typeface="Noto Sans KR" pitchFamily="34" charset="0"/>
                <a:ea typeface="Noto Sans KR" pitchFamily="34" charset="-122"/>
                <a:cs typeface="Noto Sans KR" pitchFamily="34" charset="-120"/>
              </a:rPr>
              <a:t>답변·출처</a:t>
            </a:r>
            <a:endParaRPr lang="en-US" sz="1600" dirty="0"/>
          </a:p>
        </p:txBody>
      </p:sp>
      <p:sp>
        <p:nvSpPr>
          <p:cNvPr id="38" name="Text 29"/>
          <p:cNvSpPr/>
          <p:nvPr/>
        </p:nvSpPr>
        <p:spPr>
          <a:xfrm>
            <a:off x="9753600" y="3774439"/>
            <a:ext cx="154305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D5DAE2"/>
                </a:solidFill>
                <a:latin typeface="Noto Sans KR" pitchFamily="34" charset="0"/>
                <a:ea typeface="Noto Sans KR" pitchFamily="34" charset="-122"/>
                <a:cs typeface="Noto Sans KR" pitchFamily="34" charset="-120"/>
              </a:rPr>
              <a:t>근거 자료 표시</a:t>
            </a:r>
            <a:endParaRPr lang="en-US" sz="1200" dirty="0"/>
          </a:p>
        </p:txBody>
      </p:sp>
      <p:sp>
        <p:nvSpPr>
          <p:cNvPr id="39" name="Text 30"/>
          <p:cNvSpPr/>
          <p:nvPr/>
        </p:nvSpPr>
        <p:spPr>
          <a:xfrm>
            <a:off x="812800" y="4500882"/>
            <a:ext cx="10883392" cy="330200"/>
          </a:xfrm>
          <a:prstGeom prst="rect">
            <a:avLst/>
          </a:prstGeom>
          <a:noFill/>
          <a:ln/>
        </p:spPr>
        <p:txBody>
          <a:bodyPr wrap="square" lIns="0" tIns="0" rIns="0" bIns="0" rtlCol="0" anchor="t">
            <a:normAutofit/>
          </a:bodyPr>
          <a:lstStyle/>
          <a:p>
            <a:pPr algn="l" indent="0" marL="0">
              <a:lnSpc>
                <a:spcPts val="2400"/>
              </a:lnSpc>
              <a:buNone/>
            </a:pPr>
            <a:r>
              <a:rPr lang="en-US" sz="1600" b="1" dirty="0">
                <a:solidFill>
                  <a:srgbClr val="C2410C"/>
                </a:solidFill>
                <a:latin typeface="Noto Sans KR" pitchFamily="34" charset="0"/>
                <a:ea typeface="Noto Sans KR" pitchFamily="34" charset="-122"/>
                <a:cs typeface="Noto Sans KR" pitchFamily="34" charset="-120"/>
              </a:rPr>
              <a:t>검색이 빗나가면 답도 빗나간다. 그래서 5주차에 검색 방법을 고도화한다.</a:t>
            </a:r>
            <a:endParaRPr lang="en-US" sz="1600" dirty="0"/>
          </a:p>
        </p:txBody>
      </p:sp>
      <p:sp>
        <p:nvSpPr>
          <p:cNvPr id="40" name="Text 31"/>
          <p:cNvSpPr/>
          <p:nvPr/>
        </p:nvSpPr>
        <p:spPr>
          <a:xfrm>
            <a:off x="812800" y="6238239"/>
            <a:ext cx="2000726"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472"/>
                </a:solidFill>
                <a:latin typeface="Noto Sans KR" pitchFamily="34" charset="0"/>
                <a:ea typeface="Noto Sans KR" pitchFamily="34" charset="-122"/>
                <a:cs typeface="Noto Sans KR" pitchFamily="34" charset="-120"/>
              </a:rPr>
              <a:t>COW AI팀 1조 · RAG 입문</a:t>
            </a:r>
            <a:endParaRPr lang="en-US" sz="1200" dirty="0"/>
          </a:p>
        </p:txBody>
      </p:sp>
      <p:sp>
        <p:nvSpPr>
          <p:cNvPr id="41" name="Text 32"/>
          <p:cNvSpPr/>
          <p:nvPr/>
        </p:nvSpPr>
        <p:spPr>
          <a:xfrm>
            <a:off x="10566400" y="6238239"/>
            <a:ext cx="812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472"/>
                </a:solidFill>
                <a:latin typeface="Noto Sans KR" pitchFamily="34" charset="0"/>
                <a:ea typeface="Noto Sans KR" pitchFamily="34" charset="-122"/>
                <a:cs typeface="Noto Sans KR" pitchFamily="34" charset="-120"/>
              </a:rPr>
              <a:t>05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3EC"/>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B2430"/>
                </a:solidFill>
                <a:latin typeface="Noto Serif KR" pitchFamily="18" charset="0"/>
                <a:ea typeface="Noto Serif KR" pitchFamily="18" charset="-122"/>
                <a:cs typeface="Noto Serif KR" pitchFamily="18" charset="-120"/>
              </a:rPr>
              <a:t>RAG와 즉석 웹 검색</a:t>
            </a:r>
            <a:endParaRPr lang="en-US" sz="3200" dirty="0"/>
          </a:p>
        </p:txBody>
      </p:sp>
      <p:sp>
        <p:nvSpPr>
          <p:cNvPr id="3" name="Text 1"/>
          <p:cNvSpPr/>
          <p:nvPr/>
        </p:nvSpPr>
        <p:spPr>
          <a:xfrm>
            <a:off x="812800" y="1534161"/>
            <a:ext cx="11379200" cy="330200"/>
          </a:xfrm>
          <a:prstGeom prst="rect">
            <a:avLst/>
          </a:prstGeom>
          <a:noFill/>
          <a:ln/>
        </p:spPr>
        <p:txBody>
          <a:bodyPr wrap="square" lIns="0" tIns="0" rIns="0" bIns="0" rtlCol="0" anchor="t">
            <a:normAutofit/>
          </a:bodyPr>
          <a:lstStyle/>
          <a:p>
            <a:pPr algn="l" indent="0" marL="0">
              <a:lnSpc>
                <a:spcPts val="2400"/>
              </a:lnSpc>
              <a:buNone/>
            </a:pPr>
            <a:r>
              <a:rPr lang="en-US" sz="1600" dirty="0">
                <a:solidFill>
                  <a:srgbClr val="1B2430"/>
                </a:solidFill>
                <a:latin typeface="Noto Sans KR" pitchFamily="34" charset="0"/>
                <a:ea typeface="Noto Sans KR" pitchFamily="34" charset="-122"/>
                <a:cs typeface="Noto Sans KR" pitchFamily="34" charset="-120"/>
              </a:rPr>
              <a:t>크롤링은 웹페이지를 자동으로 모으는 수집 방법이다. RAG와 대립하는 개념이 아니라, 지식 베이스를 채우는 수단이 될 수 있다.</a:t>
            </a:r>
            <a:endParaRPr lang="en-US" sz="1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2105661"/>
          <a:ext cx="10553700" cy="2636520"/>
        </p:xfrm>
        <a:graphic>
          <a:graphicData uri="http://schemas.openxmlformats.org/drawingml/2006/table">
            <a:tbl>
              <a:tblPr/>
              <a:tblGrid>
                <a:gridCol w="1899666"/>
                <a:gridCol w="4327017"/>
                <a:gridCol w="4327017"/>
              </a:tblGrid>
              <a:tr h="439420">
                <a:tc>
                  <a:txBody>
                    <a:bodyPr/>
                    <a:lstStyle/>
                    <a:p>
                      <a:pPr indent="0" marL="0">
                        <a:lnSpc>
                          <a:spcPts val="2240"/>
                        </a:lnSpc>
                        <a:buNone/>
                      </a:pPr>
                      <a:r>
                        <a:rPr lang="en-US" sz="1600" b="1" dirty="0">
                          <a:solidFill>
                            <a:srgbClr val="1B2430"/>
                          </a:solidFill>
                          <a:latin typeface="Noto Sans KR" pitchFamily="34" charset="0"/>
                          <a:ea typeface="Noto Sans KR" pitchFamily="34" charset="-122"/>
                          <a:cs typeface="Noto Sans KR" pitchFamily="34" charset="-120"/>
                        </a:rPr>
                        <a:t>비교</a:t>
                      </a:r>
                      <a:endParaRPr lang="en-US" sz="1600" dirty="0">
                        <a:latin typeface="Noto Sans KR" charset="0"/>
                        <a:ea typeface="Noto Sans KR" charset="0"/>
                        <a:cs typeface="Noto Sans KR" charset="0"/>
                      </a:endParaRPr>
                    </a:p>
                  </a:txBody>
                  <a:tcPr marL="71120" marR="71120" marT="71120" marB="71120" anchor="t">
                    <a:lnL w="12700" cap="flat" cmpd="sng" algn="ctr">
                      <a:solidFill>
                        <a:srgbClr val="C4C2BC"/>
                      </a:solidFill>
                      <a:prstDash val="solid"/>
                      <a:round/>
                      <a:headEnd type="none" w="med" len="med"/>
                      <a:tailEnd type="none" w="med" len="med"/>
                    </a:lnL>
                    <a:lnR w="12700" cap="flat" cmpd="sng" algn="ctr">
                      <a:solidFill>
                        <a:srgbClr val="B6B4AF"/>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6B4AF"/>
                      </a:solidFill>
                      <a:prstDash val="solid"/>
                      <a:round/>
                      <a:headEnd type="none" w="med" len="med"/>
                      <a:tailEnd type="none" w="med" len="med"/>
                    </a:lnB>
                    <a:solidFill>
                      <a:srgbClr val="E4E1DB"/>
                    </a:solidFill>
                  </a:tcPr>
                </a:tc>
                <a:tc>
                  <a:txBody>
                    <a:bodyPr/>
                    <a:lstStyle/>
                    <a:p>
                      <a:pPr indent="0" marL="0">
                        <a:lnSpc>
                          <a:spcPts val="2240"/>
                        </a:lnSpc>
                        <a:buNone/>
                      </a:pPr>
                      <a:r>
                        <a:rPr lang="en-US" sz="1600" b="1" dirty="0">
                          <a:solidFill>
                            <a:srgbClr val="C2410C"/>
                          </a:solidFill>
                          <a:latin typeface="Noto Sans KR" pitchFamily="34" charset="0"/>
                          <a:ea typeface="Noto Sans KR" pitchFamily="34" charset="-122"/>
                          <a:cs typeface="Noto Sans KR" pitchFamily="34" charset="-120"/>
                        </a:rPr>
                        <a:t>RAG (미리 구축)</a:t>
                      </a:r>
                      <a:endParaRPr lang="en-US" sz="1600" dirty="0">
                        <a:latin typeface="Noto Sans KR" charset="0"/>
                        <a:ea typeface="Noto Sans KR" charset="0"/>
                        <a:cs typeface="Noto Sans KR" charset="0"/>
                      </a:endParaRPr>
                    </a:p>
                  </a:txBody>
                  <a:tcPr marL="71120" marR="71120" marT="71120" marB="71120" anchor="t">
                    <a:lnL w="12700" cap="flat" cmpd="sng" algn="ctr">
                      <a:solidFill>
                        <a:srgbClr val="B6B4AF"/>
                      </a:solidFill>
                      <a:prstDash val="solid"/>
                      <a:round/>
                      <a:headEnd type="none" w="med" len="med"/>
                      <a:tailEnd type="none" w="med" len="med"/>
                    </a:lnL>
                    <a:lnR w="12700" cap="flat" cmpd="sng" algn="ctr">
                      <a:solidFill>
                        <a:srgbClr val="B6B4AF"/>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6B4AF"/>
                      </a:solidFill>
                      <a:prstDash val="solid"/>
                      <a:round/>
                      <a:headEnd type="none" w="med" len="med"/>
                      <a:tailEnd type="none" w="med" len="med"/>
                    </a:lnB>
                    <a:solidFill>
                      <a:srgbClr val="E4E1DB"/>
                    </a:solidFill>
                  </a:tcPr>
                </a:tc>
                <a:tc>
                  <a:txBody>
                    <a:bodyPr/>
                    <a:lstStyle/>
                    <a:p>
                      <a:pPr indent="0" marL="0">
                        <a:lnSpc>
                          <a:spcPts val="2240"/>
                        </a:lnSpc>
                        <a:buNone/>
                      </a:pPr>
                      <a:r>
                        <a:rPr lang="en-US" sz="1600" b="1" dirty="0">
                          <a:solidFill>
                            <a:srgbClr val="1F4E8C"/>
                          </a:solidFill>
                          <a:latin typeface="Noto Sans KR" pitchFamily="34" charset="0"/>
                          <a:ea typeface="Noto Sans KR" pitchFamily="34" charset="-122"/>
                          <a:cs typeface="Noto Sans KR" pitchFamily="34" charset="-120"/>
                        </a:rPr>
                        <a:t>즉석 웹 검색</a:t>
                      </a:r>
                      <a:endParaRPr lang="en-US" sz="1600" dirty="0">
                        <a:latin typeface="Noto Sans KR" charset="0"/>
                        <a:ea typeface="Noto Sans KR" charset="0"/>
                        <a:cs typeface="Noto Sans KR" charset="0"/>
                      </a:endParaRPr>
                    </a:p>
                  </a:txBody>
                  <a:tcPr marL="71120" marR="71120" marT="71120" marB="71120" anchor="t">
                    <a:lnL w="12700" cap="flat" cmpd="sng" algn="ctr">
                      <a:solidFill>
                        <a:srgbClr val="B6B4AF"/>
                      </a:solidFill>
                      <a:prstDash val="solid"/>
                      <a:round/>
                      <a:headEnd type="none" w="med" len="med"/>
                      <a:tailEnd type="none" w="med" len="med"/>
                    </a:lnL>
                    <a:lnR w="12700" cap="flat" cmpd="sng" algn="ctr">
                      <a:solidFill>
                        <a:srgbClr val="B6B4AF"/>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6B4AF"/>
                      </a:solidFill>
                      <a:prstDash val="solid"/>
                      <a:round/>
                      <a:headEnd type="none" w="med" len="med"/>
                      <a:tailEnd type="none" w="med" len="med"/>
                    </a:lnB>
                    <a:solidFill>
                      <a:srgbClr val="E4E1DB"/>
                    </a:solidFill>
                  </a:tcPr>
                </a:tc>
              </a:tr>
              <a:tr h="439420">
                <a:tc>
                  <a:txBody>
                    <a:bodyPr/>
                    <a:lstStyle/>
                    <a:p>
                      <a:pPr indent="0" marL="0">
                        <a:lnSpc>
                          <a:spcPts val="2240"/>
                        </a:lnSpc>
                        <a:buNone/>
                      </a:pPr>
                      <a:r>
                        <a:rPr lang="en-US" sz="1600" dirty="0">
                          <a:solidFill>
                            <a:srgbClr val="1B2430"/>
                          </a:solidFill>
                          <a:latin typeface="Noto Sans KR" pitchFamily="34" charset="0"/>
                          <a:ea typeface="Noto Sans KR" pitchFamily="34" charset="-122"/>
                          <a:cs typeface="Noto Sans KR" pitchFamily="34" charset="-120"/>
                        </a:rPr>
                        <a:t>자료 준비</a:t>
                      </a:r>
                      <a:endParaRPr lang="en-US" sz="1600" dirty="0">
                        <a:latin typeface="Noto Sans KR" charset="0"/>
                        <a:ea typeface="Noto Sans KR" charset="0"/>
                        <a:cs typeface="Noto Sans KR" charset="0"/>
                      </a:endParaRPr>
                    </a:p>
                  </a:txBody>
                  <a:tcPr marL="71120" marR="71120" marT="71120" marB="7112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6B4AF"/>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2240"/>
                        </a:lnSpc>
                        <a:buNone/>
                      </a:pPr>
                      <a:r>
                        <a:rPr lang="en-US" sz="1600" dirty="0">
                          <a:solidFill>
                            <a:srgbClr val="1B2430"/>
                          </a:solidFill>
                          <a:latin typeface="Noto Sans KR" pitchFamily="34" charset="0"/>
                          <a:ea typeface="Noto Sans KR" pitchFamily="34" charset="-122"/>
                          <a:cs typeface="Noto Sans KR" pitchFamily="34" charset="-120"/>
                        </a:rPr>
                        <a:t>미리 수집·정제·저장</a:t>
                      </a:r>
                      <a:endParaRPr lang="en-US" sz="1600" dirty="0">
                        <a:latin typeface="Noto Sans KR" charset="0"/>
                        <a:ea typeface="Noto Sans KR" charset="0"/>
                        <a:cs typeface="Noto Sans KR" charset="0"/>
                      </a:endParaRPr>
                    </a:p>
                  </a:txBody>
                  <a:tcPr marL="71120" marR="71120" marT="71120" marB="7112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6B4AF"/>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2240"/>
                        </a:lnSpc>
                        <a:buNone/>
                      </a:pPr>
                      <a:r>
                        <a:rPr lang="en-US" sz="1600" dirty="0">
                          <a:solidFill>
                            <a:srgbClr val="1B2430"/>
                          </a:solidFill>
                          <a:latin typeface="Noto Sans KR" pitchFamily="34" charset="0"/>
                          <a:ea typeface="Noto Sans KR" pitchFamily="34" charset="-122"/>
                          <a:cs typeface="Noto Sans KR" pitchFamily="34" charset="-120"/>
                        </a:rPr>
                        <a:t>질문할 때 즉석에서 검색</a:t>
                      </a:r>
                      <a:endParaRPr lang="en-US" sz="1600" dirty="0">
                        <a:latin typeface="Noto Sans KR" charset="0"/>
                        <a:ea typeface="Noto Sans KR" charset="0"/>
                        <a:cs typeface="Noto Sans KR" charset="0"/>
                      </a:endParaRPr>
                    </a:p>
                  </a:txBody>
                  <a:tcPr marL="71120" marR="71120" marT="71120" marB="7112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6B4AF"/>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r h="439420">
                <a:tc>
                  <a:txBody>
                    <a:bodyPr/>
                    <a:lstStyle/>
                    <a:p>
                      <a:pPr indent="0" marL="0">
                        <a:lnSpc>
                          <a:spcPts val="2240"/>
                        </a:lnSpc>
                        <a:buNone/>
                      </a:pPr>
                      <a:r>
                        <a:rPr lang="en-US" sz="1600" dirty="0">
                          <a:solidFill>
                            <a:srgbClr val="1B2430"/>
                          </a:solidFill>
                          <a:latin typeface="Noto Sans KR" pitchFamily="34" charset="0"/>
                          <a:ea typeface="Noto Sans KR" pitchFamily="34" charset="-122"/>
                          <a:cs typeface="Noto Sans KR" pitchFamily="34" charset="-120"/>
                        </a:rPr>
                        <a:t>검색 범위</a:t>
                      </a:r>
                      <a:endParaRPr lang="en-US" sz="1600" dirty="0">
                        <a:latin typeface="Noto Sans KR" charset="0"/>
                        <a:ea typeface="Noto Sans KR" charset="0"/>
                        <a:cs typeface="Noto Sans KR" charset="0"/>
                      </a:endParaRPr>
                    </a:p>
                  </a:txBody>
                  <a:tcPr marL="71120" marR="71120" marT="71120" marB="7112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2240"/>
                        </a:lnSpc>
                        <a:buNone/>
                      </a:pPr>
                      <a:r>
                        <a:rPr lang="en-US" sz="1600" dirty="0">
                          <a:solidFill>
                            <a:srgbClr val="1B2430"/>
                          </a:solidFill>
                          <a:latin typeface="Noto Sans KR" pitchFamily="34" charset="0"/>
                          <a:ea typeface="Noto Sans KR" pitchFamily="34" charset="-122"/>
                          <a:cs typeface="Noto Sans KR" pitchFamily="34" charset="-120"/>
                        </a:rPr>
                        <a:t>우리가 고른 자료만</a:t>
                      </a:r>
                      <a:endParaRPr lang="en-US" sz="1600" dirty="0">
                        <a:latin typeface="Noto Sans KR" charset="0"/>
                        <a:ea typeface="Noto Sans KR" charset="0"/>
                        <a:cs typeface="Noto Sans KR" charset="0"/>
                      </a:endParaRPr>
                    </a:p>
                  </a:txBody>
                  <a:tcPr marL="71120" marR="71120" marT="71120" marB="7112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2240"/>
                        </a:lnSpc>
                        <a:buNone/>
                      </a:pPr>
                      <a:r>
                        <a:rPr lang="en-US" sz="1600" dirty="0">
                          <a:solidFill>
                            <a:srgbClr val="1B2430"/>
                          </a:solidFill>
                          <a:latin typeface="Noto Sans KR" pitchFamily="34" charset="0"/>
                          <a:ea typeface="Noto Sans KR" pitchFamily="34" charset="-122"/>
                          <a:cs typeface="Noto Sans KR" pitchFamily="34" charset="-120"/>
                        </a:rPr>
                        <a:t>공개 웹 전체</a:t>
                      </a:r>
                      <a:endParaRPr lang="en-US" sz="1600" dirty="0">
                        <a:latin typeface="Noto Sans KR" charset="0"/>
                        <a:ea typeface="Noto Sans KR" charset="0"/>
                        <a:cs typeface="Noto Sans KR" charset="0"/>
                      </a:endParaRPr>
                    </a:p>
                  </a:txBody>
                  <a:tcPr marL="71120" marR="71120" marT="71120" marB="7112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r h="439420">
                <a:tc>
                  <a:txBody>
                    <a:bodyPr/>
                    <a:lstStyle/>
                    <a:p>
                      <a:pPr indent="0" marL="0">
                        <a:lnSpc>
                          <a:spcPts val="2240"/>
                        </a:lnSpc>
                        <a:buNone/>
                      </a:pPr>
                      <a:r>
                        <a:rPr lang="en-US" sz="1600" dirty="0">
                          <a:solidFill>
                            <a:srgbClr val="1B2430"/>
                          </a:solidFill>
                          <a:latin typeface="Noto Sans KR" pitchFamily="34" charset="0"/>
                          <a:ea typeface="Noto Sans KR" pitchFamily="34" charset="-122"/>
                          <a:cs typeface="Noto Sans KR" pitchFamily="34" charset="-120"/>
                        </a:rPr>
                        <a:t>비공개 자료</a:t>
                      </a:r>
                      <a:endParaRPr lang="en-US" sz="1600" dirty="0">
                        <a:latin typeface="Noto Sans KR" charset="0"/>
                        <a:ea typeface="Noto Sans KR" charset="0"/>
                        <a:cs typeface="Noto Sans KR" charset="0"/>
                      </a:endParaRPr>
                    </a:p>
                  </a:txBody>
                  <a:tcPr marL="71120" marR="71120" marT="71120" marB="7112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2240"/>
                        </a:lnSpc>
                        <a:buNone/>
                      </a:pPr>
                      <a:r>
                        <a:rPr lang="en-US" sz="1600" dirty="0">
                          <a:solidFill>
                            <a:srgbClr val="1B2430"/>
                          </a:solidFill>
                          <a:latin typeface="Noto Sans KR" pitchFamily="34" charset="0"/>
                          <a:ea typeface="Noto Sans KR" pitchFamily="34" charset="-122"/>
                          <a:cs typeface="Noto Sans KR" pitchFamily="34" charset="-120"/>
                        </a:rPr>
                        <a:t>넣어서 쓸 수 있다</a:t>
                      </a:r>
                      <a:endParaRPr lang="en-US" sz="1600" dirty="0">
                        <a:latin typeface="Noto Sans KR" charset="0"/>
                        <a:ea typeface="Noto Sans KR" charset="0"/>
                        <a:cs typeface="Noto Sans KR" charset="0"/>
                      </a:endParaRPr>
                    </a:p>
                  </a:txBody>
                  <a:tcPr marL="71120" marR="71120" marT="71120" marB="7112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2240"/>
                        </a:lnSpc>
                        <a:buNone/>
                      </a:pPr>
                      <a:r>
                        <a:rPr lang="en-US" sz="1600" dirty="0">
                          <a:solidFill>
                            <a:srgbClr val="1B2430"/>
                          </a:solidFill>
                          <a:latin typeface="Noto Sans KR" pitchFamily="34" charset="0"/>
                          <a:ea typeface="Noto Sans KR" pitchFamily="34" charset="-122"/>
                          <a:cs typeface="Noto Sans KR" pitchFamily="34" charset="-120"/>
                        </a:rPr>
                        <a:t>접근하기 어렵다</a:t>
                      </a:r>
                      <a:endParaRPr lang="en-US" sz="1600" dirty="0">
                        <a:latin typeface="Noto Sans KR" charset="0"/>
                        <a:ea typeface="Noto Sans KR" charset="0"/>
                        <a:cs typeface="Noto Sans KR" charset="0"/>
                      </a:endParaRPr>
                    </a:p>
                  </a:txBody>
                  <a:tcPr marL="71120" marR="71120" marT="71120" marB="7112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r h="439420">
                <a:tc>
                  <a:txBody>
                    <a:bodyPr/>
                    <a:lstStyle/>
                    <a:p>
                      <a:pPr indent="0" marL="0">
                        <a:lnSpc>
                          <a:spcPts val="2240"/>
                        </a:lnSpc>
                        <a:buNone/>
                      </a:pPr>
                      <a:r>
                        <a:rPr lang="en-US" sz="1600" dirty="0">
                          <a:solidFill>
                            <a:srgbClr val="1B2430"/>
                          </a:solidFill>
                          <a:latin typeface="Noto Sans KR" pitchFamily="34" charset="0"/>
                          <a:ea typeface="Noto Sans KR" pitchFamily="34" charset="-122"/>
                          <a:cs typeface="Noto Sans KR" pitchFamily="34" charset="-120"/>
                        </a:rPr>
                        <a:t>최신성</a:t>
                      </a:r>
                      <a:endParaRPr lang="en-US" sz="1600" dirty="0">
                        <a:latin typeface="Noto Sans KR" charset="0"/>
                        <a:ea typeface="Noto Sans KR" charset="0"/>
                        <a:cs typeface="Noto Sans KR" charset="0"/>
                      </a:endParaRPr>
                    </a:p>
                  </a:txBody>
                  <a:tcPr marL="71120" marR="71120" marT="71120" marB="7112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2240"/>
                        </a:lnSpc>
                        <a:buNone/>
                      </a:pPr>
                      <a:r>
                        <a:rPr lang="en-US" sz="1600" dirty="0">
                          <a:solidFill>
                            <a:srgbClr val="1B2430"/>
                          </a:solidFill>
                          <a:latin typeface="Noto Sans KR" pitchFamily="34" charset="0"/>
                          <a:ea typeface="Noto Sans KR" pitchFamily="34" charset="-122"/>
                          <a:cs typeface="Noto Sans KR" pitchFamily="34" charset="-120"/>
                        </a:rPr>
                        <a:t>마지막 갱신 시점까지</a:t>
                      </a:r>
                      <a:endParaRPr lang="en-US" sz="1600" dirty="0">
                        <a:latin typeface="Noto Sans KR" charset="0"/>
                        <a:ea typeface="Noto Sans KR" charset="0"/>
                        <a:cs typeface="Noto Sans KR" charset="0"/>
                      </a:endParaRPr>
                    </a:p>
                  </a:txBody>
                  <a:tcPr marL="71120" marR="71120" marT="71120" marB="7112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2240"/>
                        </a:lnSpc>
                        <a:buNone/>
                      </a:pPr>
                      <a:r>
                        <a:rPr lang="en-US" sz="1600" dirty="0">
                          <a:solidFill>
                            <a:srgbClr val="1B2430"/>
                          </a:solidFill>
                          <a:latin typeface="Noto Sans KR" pitchFamily="34" charset="0"/>
                          <a:ea typeface="Noto Sans KR" pitchFamily="34" charset="-122"/>
                          <a:cs typeface="Noto Sans KR" pitchFamily="34" charset="-120"/>
                        </a:rPr>
                        <a:t>검색한 시점의 웹</a:t>
                      </a:r>
                      <a:endParaRPr lang="en-US" sz="1600" dirty="0">
                        <a:latin typeface="Noto Sans KR" charset="0"/>
                        <a:ea typeface="Noto Sans KR" charset="0"/>
                        <a:cs typeface="Noto Sans KR" charset="0"/>
                      </a:endParaRPr>
                    </a:p>
                  </a:txBody>
                  <a:tcPr marL="71120" marR="71120" marT="71120" marB="7112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r h="439420">
                <a:tc>
                  <a:txBody>
                    <a:bodyPr/>
                    <a:lstStyle/>
                    <a:p>
                      <a:pPr indent="0" marL="0">
                        <a:lnSpc>
                          <a:spcPts val="2240"/>
                        </a:lnSpc>
                        <a:buNone/>
                      </a:pPr>
                      <a:r>
                        <a:rPr lang="en-US" sz="1600" dirty="0">
                          <a:solidFill>
                            <a:srgbClr val="1B2430"/>
                          </a:solidFill>
                          <a:latin typeface="Noto Sans KR" pitchFamily="34" charset="0"/>
                          <a:ea typeface="Noto Sans KR" pitchFamily="34" charset="-122"/>
                          <a:cs typeface="Noto Sans KR" pitchFamily="34" charset="-120"/>
                        </a:rPr>
                        <a:t>품질 관리</a:t>
                      </a:r>
                      <a:endParaRPr lang="en-US" sz="1600" dirty="0">
                        <a:latin typeface="Noto Sans KR" charset="0"/>
                        <a:ea typeface="Noto Sans KR" charset="0"/>
                        <a:cs typeface="Noto Sans KR" charset="0"/>
                      </a:endParaRPr>
                    </a:p>
                  </a:txBody>
                  <a:tcPr marL="71120" marR="71120" marT="71120" marB="7112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2240"/>
                        </a:lnSpc>
                        <a:buNone/>
                      </a:pPr>
                      <a:r>
                        <a:rPr lang="en-US" sz="1600" dirty="0">
                          <a:solidFill>
                            <a:srgbClr val="1B2430"/>
                          </a:solidFill>
                          <a:latin typeface="Noto Sans KR" pitchFamily="34" charset="0"/>
                          <a:ea typeface="Noto Sans KR" pitchFamily="34" charset="-122"/>
                          <a:cs typeface="Noto Sans KR" pitchFamily="34" charset="-120"/>
                        </a:rPr>
                        <a:t>자료를 직접 관리</a:t>
                      </a:r>
                      <a:endParaRPr lang="en-US" sz="1600" dirty="0">
                        <a:latin typeface="Noto Sans KR" charset="0"/>
                        <a:ea typeface="Noto Sans KR" charset="0"/>
                        <a:cs typeface="Noto Sans KR" charset="0"/>
                      </a:endParaRPr>
                    </a:p>
                  </a:txBody>
                  <a:tcPr marL="71120" marR="71120" marT="71120" marB="7112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2240"/>
                        </a:lnSpc>
                        <a:buNone/>
                      </a:pPr>
                      <a:r>
                        <a:rPr lang="en-US" sz="1600" dirty="0">
                          <a:solidFill>
                            <a:srgbClr val="1B2430"/>
                          </a:solidFill>
                          <a:latin typeface="Noto Sans KR" pitchFamily="34" charset="0"/>
                          <a:ea typeface="Noto Sans KR" pitchFamily="34" charset="-122"/>
                          <a:cs typeface="Noto Sans KR" pitchFamily="34" charset="-120"/>
                        </a:rPr>
                        <a:t>검색 결과에 좌우</a:t>
                      </a:r>
                      <a:endParaRPr lang="en-US" sz="1600" dirty="0">
                        <a:latin typeface="Noto Sans KR" charset="0"/>
                        <a:ea typeface="Noto Sans KR" charset="0"/>
                        <a:cs typeface="Noto Sans KR" charset="0"/>
                      </a:endParaRPr>
                    </a:p>
                  </a:txBody>
                  <a:tcPr marL="71120" marR="71120" marT="71120" marB="7112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bl>
          </a:graphicData>
        </a:graphic>
      </p:graphicFrame>
      <p:sp>
        <p:nvSpPr>
          <p:cNvPr id="5" name="Text 2"/>
          <p:cNvSpPr/>
          <p:nvPr/>
        </p:nvSpPr>
        <p:spPr>
          <a:xfrm>
            <a:off x="812800" y="4996182"/>
            <a:ext cx="10883392" cy="330200"/>
          </a:xfrm>
          <a:prstGeom prst="rect">
            <a:avLst/>
          </a:prstGeom>
          <a:noFill/>
          <a:ln/>
        </p:spPr>
        <p:txBody>
          <a:bodyPr wrap="square" lIns="0" tIns="0" rIns="0" bIns="0" rtlCol="0" anchor="t">
            <a:normAutofit/>
          </a:bodyPr>
          <a:lstStyle/>
          <a:p>
            <a:pPr algn="l" indent="0" marL="0">
              <a:lnSpc>
                <a:spcPts val="2400"/>
              </a:lnSpc>
              <a:buNone/>
            </a:pPr>
            <a:r>
              <a:rPr lang="en-US" sz="1600" b="1" dirty="0">
                <a:solidFill>
                  <a:srgbClr val="C2410C"/>
                </a:solidFill>
                <a:latin typeface="Noto Sans KR" pitchFamily="34" charset="0"/>
                <a:ea typeface="Noto Sans KR" pitchFamily="34" charset="-122"/>
                <a:cs typeface="Noto Sans KR" pitchFamily="34" charset="-120"/>
              </a:rPr>
              <a:t>같은 점은 외부 자료를 근거로 답한다는 것, 다른 점은 자료를 미리 준비하느냐다.</a:t>
            </a:r>
            <a:endParaRPr lang="en-US" sz="1600" dirty="0"/>
          </a:p>
        </p:txBody>
      </p:sp>
      <p:sp>
        <p:nvSpPr>
          <p:cNvPr id="6" name="Text 3"/>
          <p:cNvSpPr/>
          <p:nvPr/>
        </p:nvSpPr>
        <p:spPr>
          <a:xfrm>
            <a:off x="812800" y="6238239"/>
            <a:ext cx="2000726"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472"/>
                </a:solidFill>
                <a:latin typeface="Noto Sans KR" pitchFamily="34" charset="0"/>
                <a:ea typeface="Noto Sans KR" pitchFamily="34" charset="-122"/>
                <a:cs typeface="Noto Sans KR" pitchFamily="34" charset="-120"/>
              </a:rPr>
              <a:t>COW AI팀 1조 · RAG 입문</a:t>
            </a:r>
            <a:endParaRPr lang="en-US" sz="1200" dirty="0"/>
          </a:p>
        </p:txBody>
      </p:sp>
      <p:sp>
        <p:nvSpPr>
          <p:cNvPr id="7" name="Text 4"/>
          <p:cNvSpPr/>
          <p:nvPr/>
        </p:nvSpPr>
        <p:spPr>
          <a:xfrm>
            <a:off x="10566400" y="6238239"/>
            <a:ext cx="812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472"/>
                </a:solidFill>
                <a:latin typeface="Noto Sans KR" pitchFamily="34" charset="0"/>
                <a:ea typeface="Noto Sans KR" pitchFamily="34" charset="-122"/>
                <a:cs typeface="Noto Sans KR" pitchFamily="34" charset="-120"/>
              </a:rPr>
              <a:t>06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3EC"/>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B2430"/>
                </a:solidFill>
                <a:latin typeface="Noto Serif KR" pitchFamily="18" charset="0"/>
                <a:ea typeface="Noto Serif KR" pitchFamily="18" charset="-122"/>
                <a:cs typeface="Noto Serif KR" pitchFamily="18" charset="-120"/>
              </a:rPr>
              <a:t>지식 베이스: 검색 대상이 되는 자료 창고</a:t>
            </a:r>
            <a:endParaRPr lang="en-US" sz="3200" dirty="0"/>
          </a:p>
        </p:txBody>
      </p:sp>
      <p:sp>
        <p:nvSpPr>
          <p:cNvPr id="3" name="Text 1"/>
          <p:cNvSpPr/>
          <p:nvPr/>
        </p:nvSpPr>
        <p:spPr>
          <a:xfrm>
            <a:off x="812800" y="1584961"/>
            <a:ext cx="10883392" cy="330200"/>
          </a:xfrm>
          <a:prstGeom prst="rect">
            <a:avLst/>
          </a:prstGeom>
          <a:noFill/>
          <a:ln/>
        </p:spPr>
        <p:txBody>
          <a:bodyPr wrap="square" lIns="0" tIns="0" rIns="0" bIns="0" rtlCol="0" anchor="t">
            <a:normAutofit/>
          </a:bodyPr>
          <a:lstStyle/>
          <a:p>
            <a:pPr algn="l" indent="0" marL="0">
              <a:lnSpc>
                <a:spcPts val="2400"/>
              </a:lnSpc>
              <a:buNone/>
            </a:pPr>
            <a:r>
              <a:rPr lang="en-US" sz="1600" dirty="0">
                <a:solidFill>
                  <a:srgbClr val="1B2430"/>
                </a:solidFill>
                <a:latin typeface="Noto Sans KR" pitchFamily="34" charset="0"/>
                <a:ea typeface="Noto Sans KR" pitchFamily="34" charset="-122"/>
                <a:cs typeface="Noto Sans KR" pitchFamily="34" charset="-120"/>
              </a:rPr>
              <a:t>RAG가 검색할 때 뒤지는 저장소. 자료의 원문 조각과 그 조각의 벡터, 출처 정보를 함께 저장해 둔다.</a:t>
            </a:r>
            <a:endParaRPr lang="en-US" sz="1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2207261"/>
          <a:ext cx="10553700" cy="2636520"/>
        </p:xfrm>
        <a:graphic>
          <a:graphicData uri="http://schemas.openxmlformats.org/drawingml/2006/table">
            <a:tbl>
              <a:tblPr/>
              <a:tblGrid>
                <a:gridCol w="2110740"/>
                <a:gridCol w="4010406"/>
                <a:gridCol w="4432554"/>
              </a:tblGrid>
              <a:tr h="439420">
                <a:tc>
                  <a:txBody>
                    <a:bodyPr/>
                    <a:lstStyle/>
                    <a:p>
                      <a:pPr indent="0" marL="0">
                        <a:lnSpc>
                          <a:spcPts val="2240"/>
                        </a:lnSpc>
                        <a:buNone/>
                      </a:pPr>
                      <a:r>
                        <a:rPr lang="en-US" sz="1600" b="1" dirty="0">
                          <a:solidFill>
                            <a:srgbClr val="1B2430"/>
                          </a:solidFill>
                          <a:latin typeface="Noto Sans KR" pitchFamily="34" charset="0"/>
                          <a:ea typeface="Noto Sans KR" pitchFamily="34" charset="-122"/>
                          <a:cs typeface="Noto Sans KR" pitchFamily="34" charset="-120"/>
                        </a:rPr>
                        <a:t>단계</a:t>
                      </a:r>
                      <a:endParaRPr lang="en-US" sz="1600" dirty="0">
                        <a:latin typeface="Noto Sans KR" charset="0"/>
                        <a:ea typeface="Noto Sans KR" charset="0"/>
                        <a:cs typeface="Noto Sans KR" charset="0"/>
                      </a:endParaRPr>
                    </a:p>
                  </a:txBody>
                  <a:tcPr marL="71120" marR="71120" marT="71120" marB="71120" anchor="t">
                    <a:lnL w="12700" cap="flat" cmpd="sng" algn="ctr">
                      <a:solidFill>
                        <a:srgbClr val="C4C2BC"/>
                      </a:solidFill>
                      <a:prstDash val="solid"/>
                      <a:round/>
                      <a:headEnd type="none" w="med" len="med"/>
                      <a:tailEnd type="none" w="med" len="med"/>
                    </a:lnL>
                    <a:lnR w="12700" cap="flat" cmpd="sng" algn="ctr">
                      <a:solidFill>
                        <a:srgbClr val="B6B4AF"/>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6B4AF"/>
                      </a:solidFill>
                      <a:prstDash val="solid"/>
                      <a:round/>
                      <a:headEnd type="none" w="med" len="med"/>
                      <a:tailEnd type="none" w="med" len="med"/>
                    </a:lnB>
                    <a:solidFill>
                      <a:srgbClr val="E4E1DB"/>
                    </a:solidFill>
                  </a:tcPr>
                </a:tc>
                <a:tc>
                  <a:txBody>
                    <a:bodyPr/>
                    <a:lstStyle/>
                    <a:p>
                      <a:pPr indent="0" marL="0">
                        <a:lnSpc>
                          <a:spcPts val="2240"/>
                        </a:lnSpc>
                        <a:buNone/>
                      </a:pPr>
                      <a:r>
                        <a:rPr lang="en-US" sz="1600" b="1" dirty="0">
                          <a:solidFill>
                            <a:srgbClr val="1B2430"/>
                          </a:solidFill>
                          <a:latin typeface="Noto Sans KR" pitchFamily="34" charset="0"/>
                          <a:ea typeface="Noto Sans KR" pitchFamily="34" charset="-122"/>
                          <a:cs typeface="Noto Sans KR" pitchFamily="34" charset="-120"/>
                        </a:rPr>
                        <a:t>하는 일</a:t>
                      </a:r>
                      <a:endParaRPr lang="en-US" sz="1600" dirty="0">
                        <a:latin typeface="Noto Sans KR" charset="0"/>
                        <a:ea typeface="Noto Sans KR" charset="0"/>
                        <a:cs typeface="Noto Sans KR" charset="0"/>
                      </a:endParaRPr>
                    </a:p>
                  </a:txBody>
                  <a:tcPr marL="71120" marR="71120" marT="71120" marB="71120" anchor="t">
                    <a:lnL w="12700" cap="flat" cmpd="sng" algn="ctr">
                      <a:solidFill>
                        <a:srgbClr val="B6B4AF"/>
                      </a:solidFill>
                      <a:prstDash val="solid"/>
                      <a:round/>
                      <a:headEnd type="none" w="med" len="med"/>
                      <a:tailEnd type="none" w="med" len="med"/>
                    </a:lnL>
                    <a:lnR w="12700" cap="flat" cmpd="sng" algn="ctr">
                      <a:solidFill>
                        <a:srgbClr val="B6B4AF"/>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6B4AF"/>
                      </a:solidFill>
                      <a:prstDash val="solid"/>
                      <a:round/>
                      <a:headEnd type="none" w="med" len="med"/>
                      <a:tailEnd type="none" w="med" len="med"/>
                    </a:lnB>
                    <a:solidFill>
                      <a:srgbClr val="E4E1DB"/>
                    </a:solidFill>
                  </a:tcPr>
                </a:tc>
                <a:tc>
                  <a:txBody>
                    <a:bodyPr/>
                    <a:lstStyle/>
                    <a:p>
                      <a:pPr indent="0" marL="0">
                        <a:lnSpc>
                          <a:spcPts val="2240"/>
                        </a:lnSpc>
                        <a:buNone/>
                      </a:pPr>
                      <a:r>
                        <a:rPr lang="en-US" sz="1600" b="1" dirty="0">
                          <a:solidFill>
                            <a:srgbClr val="1B2430"/>
                          </a:solidFill>
                          <a:latin typeface="Noto Sans KR" pitchFamily="34" charset="0"/>
                          <a:ea typeface="Noto Sans KR" pitchFamily="34" charset="-122"/>
                          <a:cs typeface="Noto Sans KR" pitchFamily="34" charset="-120"/>
                        </a:rPr>
                        <a:t>필요한 이유</a:t>
                      </a:r>
                      <a:endParaRPr lang="en-US" sz="1600" dirty="0">
                        <a:latin typeface="Noto Sans KR" charset="0"/>
                        <a:ea typeface="Noto Sans KR" charset="0"/>
                        <a:cs typeface="Noto Sans KR" charset="0"/>
                      </a:endParaRPr>
                    </a:p>
                  </a:txBody>
                  <a:tcPr marL="71120" marR="71120" marT="71120" marB="71120" anchor="t">
                    <a:lnL w="12700" cap="flat" cmpd="sng" algn="ctr">
                      <a:solidFill>
                        <a:srgbClr val="B6B4AF"/>
                      </a:solidFill>
                      <a:prstDash val="solid"/>
                      <a:round/>
                      <a:headEnd type="none" w="med" len="med"/>
                      <a:tailEnd type="none" w="med" len="med"/>
                    </a:lnL>
                    <a:lnR w="12700" cap="flat" cmpd="sng" algn="ctr">
                      <a:solidFill>
                        <a:srgbClr val="B6B4AF"/>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6B4AF"/>
                      </a:solidFill>
                      <a:prstDash val="solid"/>
                      <a:round/>
                      <a:headEnd type="none" w="med" len="med"/>
                      <a:tailEnd type="none" w="med" len="med"/>
                    </a:lnB>
                    <a:solidFill>
                      <a:srgbClr val="E4E1DB"/>
                    </a:solidFill>
                  </a:tcPr>
                </a:tc>
              </a:tr>
              <a:tr h="439420">
                <a:tc>
                  <a:txBody>
                    <a:bodyPr/>
                    <a:lstStyle/>
                    <a:p>
                      <a:pPr indent="0" marL="0">
                        <a:lnSpc>
                          <a:spcPts val="2240"/>
                        </a:lnSpc>
                        <a:buNone/>
                      </a:pPr>
                      <a:r>
                        <a:rPr lang="en-US" sz="1600" dirty="0">
                          <a:solidFill>
                            <a:srgbClr val="1B2430"/>
                          </a:solidFill>
                          <a:latin typeface="Noto Sans KR" pitchFamily="34" charset="0"/>
                          <a:ea typeface="Noto Sans KR" pitchFamily="34" charset="-122"/>
                          <a:cs typeface="Noto Sans KR" pitchFamily="34" charset="-120"/>
                        </a:rPr>
                        <a:t>수집</a:t>
                      </a:r>
                      <a:endParaRPr lang="en-US" sz="1600" dirty="0">
                        <a:latin typeface="Noto Sans KR" charset="0"/>
                        <a:ea typeface="Noto Sans KR" charset="0"/>
                        <a:cs typeface="Noto Sans KR" charset="0"/>
                      </a:endParaRPr>
                    </a:p>
                  </a:txBody>
                  <a:tcPr marL="71120" marR="71120" marT="71120" marB="7112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6B4AF"/>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2240"/>
                        </a:lnSpc>
                        <a:buNone/>
                      </a:pPr>
                      <a:r>
                        <a:rPr lang="en-US" sz="1600" dirty="0">
                          <a:solidFill>
                            <a:srgbClr val="1B2430"/>
                          </a:solidFill>
                          <a:latin typeface="Noto Sans KR" pitchFamily="34" charset="0"/>
                          <a:ea typeface="Noto Sans KR" pitchFamily="34" charset="-122"/>
                          <a:cs typeface="Noto Sans KR" pitchFamily="34" charset="-120"/>
                        </a:rPr>
                        <a:t>PDF·웹·DB에서 문서 모으기</a:t>
                      </a:r>
                      <a:endParaRPr lang="en-US" sz="1600" dirty="0">
                        <a:latin typeface="Noto Sans KR" charset="0"/>
                        <a:ea typeface="Noto Sans KR" charset="0"/>
                        <a:cs typeface="Noto Sans KR" charset="0"/>
                      </a:endParaRPr>
                    </a:p>
                  </a:txBody>
                  <a:tcPr marL="71120" marR="71120" marT="71120" marB="7112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6B4AF"/>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2240"/>
                        </a:lnSpc>
                        <a:buNone/>
                      </a:pPr>
                      <a:r>
                        <a:rPr lang="en-US" sz="1600" dirty="0">
                          <a:solidFill>
                            <a:srgbClr val="1B2430"/>
                          </a:solidFill>
                          <a:latin typeface="Noto Sans KR" pitchFamily="34" charset="0"/>
                          <a:ea typeface="Noto Sans KR" pitchFamily="34" charset="-122"/>
                          <a:cs typeface="Noto Sans KR" pitchFamily="34" charset="-120"/>
                        </a:rPr>
                        <a:t>근거가 될 자료 확보</a:t>
                      </a:r>
                      <a:endParaRPr lang="en-US" sz="1600" dirty="0">
                        <a:latin typeface="Noto Sans KR" charset="0"/>
                        <a:ea typeface="Noto Sans KR" charset="0"/>
                        <a:cs typeface="Noto Sans KR" charset="0"/>
                      </a:endParaRPr>
                    </a:p>
                  </a:txBody>
                  <a:tcPr marL="71120" marR="71120" marT="71120" marB="7112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6B4AF"/>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r h="439420">
                <a:tc>
                  <a:txBody>
                    <a:bodyPr/>
                    <a:lstStyle/>
                    <a:p>
                      <a:pPr indent="0" marL="0">
                        <a:lnSpc>
                          <a:spcPts val="2240"/>
                        </a:lnSpc>
                        <a:buNone/>
                      </a:pPr>
                      <a:r>
                        <a:rPr lang="en-US" sz="1600" dirty="0">
                          <a:solidFill>
                            <a:srgbClr val="1B2430"/>
                          </a:solidFill>
                          <a:latin typeface="Noto Sans KR" pitchFamily="34" charset="0"/>
                          <a:ea typeface="Noto Sans KR" pitchFamily="34" charset="-122"/>
                          <a:cs typeface="Noto Sans KR" pitchFamily="34" charset="-120"/>
                        </a:rPr>
                        <a:t>정제</a:t>
                      </a:r>
                      <a:endParaRPr lang="en-US" sz="1600" dirty="0">
                        <a:latin typeface="Noto Sans KR" charset="0"/>
                        <a:ea typeface="Noto Sans KR" charset="0"/>
                        <a:cs typeface="Noto Sans KR" charset="0"/>
                      </a:endParaRPr>
                    </a:p>
                  </a:txBody>
                  <a:tcPr marL="71120" marR="71120" marT="71120" marB="7112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2240"/>
                        </a:lnSpc>
                        <a:buNone/>
                      </a:pPr>
                      <a:r>
                        <a:rPr lang="en-US" sz="1600" dirty="0">
                          <a:solidFill>
                            <a:srgbClr val="1B2430"/>
                          </a:solidFill>
                          <a:latin typeface="Noto Sans KR" pitchFamily="34" charset="0"/>
                          <a:ea typeface="Noto Sans KR" pitchFamily="34" charset="-122"/>
                          <a:cs typeface="Noto Sans KR" pitchFamily="34" charset="-120"/>
                        </a:rPr>
                        <a:t>잡음·중복 제거</a:t>
                      </a:r>
                      <a:endParaRPr lang="en-US" sz="1600" dirty="0">
                        <a:latin typeface="Noto Sans KR" charset="0"/>
                        <a:ea typeface="Noto Sans KR" charset="0"/>
                        <a:cs typeface="Noto Sans KR" charset="0"/>
                      </a:endParaRPr>
                    </a:p>
                  </a:txBody>
                  <a:tcPr marL="71120" marR="71120" marT="71120" marB="7112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2240"/>
                        </a:lnSpc>
                        <a:buNone/>
                      </a:pPr>
                      <a:r>
                        <a:rPr lang="en-US" sz="1600" dirty="0">
                          <a:solidFill>
                            <a:srgbClr val="1B2430"/>
                          </a:solidFill>
                          <a:latin typeface="Noto Sans KR" pitchFamily="34" charset="0"/>
                          <a:ea typeface="Noto Sans KR" pitchFamily="34" charset="-122"/>
                          <a:cs typeface="Noto Sans KR" pitchFamily="34" charset="-120"/>
                        </a:rPr>
                        <a:t>검색 품질 저하 방지</a:t>
                      </a:r>
                      <a:endParaRPr lang="en-US" sz="1600" dirty="0">
                        <a:latin typeface="Noto Sans KR" charset="0"/>
                        <a:ea typeface="Noto Sans KR" charset="0"/>
                        <a:cs typeface="Noto Sans KR" charset="0"/>
                      </a:endParaRPr>
                    </a:p>
                  </a:txBody>
                  <a:tcPr marL="71120" marR="71120" marT="71120" marB="7112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r h="439420">
                <a:tc>
                  <a:txBody>
                    <a:bodyPr/>
                    <a:lstStyle/>
                    <a:p>
                      <a:pPr indent="0" marL="0">
                        <a:lnSpc>
                          <a:spcPts val="2240"/>
                        </a:lnSpc>
                        <a:buNone/>
                      </a:pPr>
                      <a:r>
                        <a:rPr lang="en-US" sz="1600" dirty="0">
                          <a:solidFill>
                            <a:srgbClr val="1B2430"/>
                          </a:solidFill>
                          <a:latin typeface="Noto Sans KR" pitchFamily="34" charset="0"/>
                          <a:ea typeface="Noto Sans KR" pitchFamily="34" charset="-122"/>
                          <a:cs typeface="Noto Sans KR" pitchFamily="34" charset="-120"/>
                        </a:rPr>
                        <a:t>청킹</a:t>
                      </a:r>
                      <a:endParaRPr lang="en-US" sz="1600" dirty="0">
                        <a:latin typeface="Noto Sans KR" charset="0"/>
                        <a:ea typeface="Noto Sans KR" charset="0"/>
                        <a:cs typeface="Noto Sans KR" charset="0"/>
                      </a:endParaRPr>
                    </a:p>
                  </a:txBody>
                  <a:tcPr marL="71120" marR="71120" marT="71120" marB="7112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2240"/>
                        </a:lnSpc>
                        <a:buNone/>
                      </a:pPr>
                      <a:r>
                        <a:rPr lang="en-US" sz="1600" dirty="0">
                          <a:solidFill>
                            <a:srgbClr val="1B2430"/>
                          </a:solidFill>
                          <a:latin typeface="Noto Sans KR" pitchFamily="34" charset="0"/>
                          <a:ea typeface="Noto Sans KR" pitchFamily="34" charset="-122"/>
                          <a:cs typeface="Noto Sans KR" pitchFamily="34" charset="-120"/>
                        </a:rPr>
                        <a:t>문서를 검색 단위로 자르기</a:t>
                      </a:r>
                      <a:endParaRPr lang="en-US" sz="1600" dirty="0">
                        <a:latin typeface="Noto Sans KR" charset="0"/>
                        <a:ea typeface="Noto Sans KR" charset="0"/>
                        <a:cs typeface="Noto Sans KR" charset="0"/>
                      </a:endParaRPr>
                    </a:p>
                  </a:txBody>
                  <a:tcPr marL="71120" marR="71120" marT="71120" marB="7112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2240"/>
                        </a:lnSpc>
                        <a:buNone/>
                      </a:pPr>
                      <a:r>
                        <a:rPr lang="en-US" sz="1600" dirty="0">
                          <a:solidFill>
                            <a:srgbClr val="1B2430"/>
                          </a:solidFill>
                          <a:latin typeface="Noto Sans KR" pitchFamily="34" charset="0"/>
                          <a:ea typeface="Noto Sans KR" pitchFamily="34" charset="-122"/>
                          <a:cs typeface="Noto Sans KR" pitchFamily="34" charset="-120"/>
                        </a:rPr>
                        <a:t>관련 부분만 정확히 찾기</a:t>
                      </a:r>
                      <a:endParaRPr lang="en-US" sz="1600" dirty="0">
                        <a:latin typeface="Noto Sans KR" charset="0"/>
                        <a:ea typeface="Noto Sans KR" charset="0"/>
                        <a:cs typeface="Noto Sans KR" charset="0"/>
                      </a:endParaRPr>
                    </a:p>
                  </a:txBody>
                  <a:tcPr marL="71120" marR="71120" marT="71120" marB="7112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r h="439420">
                <a:tc>
                  <a:txBody>
                    <a:bodyPr/>
                    <a:lstStyle/>
                    <a:p>
                      <a:pPr indent="0" marL="0">
                        <a:lnSpc>
                          <a:spcPts val="2240"/>
                        </a:lnSpc>
                        <a:buNone/>
                      </a:pPr>
                      <a:r>
                        <a:rPr lang="en-US" sz="1600" dirty="0">
                          <a:solidFill>
                            <a:srgbClr val="1B2430"/>
                          </a:solidFill>
                          <a:latin typeface="Noto Sans KR" pitchFamily="34" charset="0"/>
                          <a:ea typeface="Noto Sans KR" pitchFamily="34" charset="-122"/>
                          <a:cs typeface="Noto Sans KR" pitchFamily="34" charset="-120"/>
                        </a:rPr>
                        <a:t>임베딩</a:t>
                      </a:r>
                      <a:endParaRPr lang="en-US" sz="1600" dirty="0">
                        <a:latin typeface="Noto Sans KR" charset="0"/>
                        <a:ea typeface="Noto Sans KR" charset="0"/>
                        <a:cs typeface="Noto Sans KR" charset="0"/>
                      </a:endParaRPr>
                    </a:p>
                  </a:txBody>
                  <a:tcPr marL="71120" marR="71120" marT="71120" marB="7112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2240"/>
                        </a:lnSpc>
                        <a:buNone/>
                      </a:pPr>
                      <a:r>
                        <a:rPr lang="en-US" sz="1600" dirty="0">
                          <a:solidFill>
                            <a:srgbClr val="1B2430"/>
                          </a:solidFill>
                          <a:latin typeface="Noto Sans KR" pitchFamily="34" charset="0"/>
                          <a:ea typeface="Noto Sans KR" pitchFamily="34" charset="-122"/>
                          <a:cs typeface="Noto Sans KR" pitchFamily="34" charset="-120"/>
                        </a:rPr>
                        <a:t>조각을 벡터로 변환</a:t>
                      </a:r>
                      <a:endParaRPr lang="en-US" sz="1600" dirty="0">
                        <a:latin typeface="Noto Sans KR" charset="0"/>
                        <a:ea typeface="Noto Sans KR" charset="0"/>
                        <a:cs typeface="Noto Sans KR" charset="0"/>
                      </a:endParaRPr>
                    </a:p>
                  </a:txBody>
                  <a:tcPr marL="71120" marR="71120" marT="71120" marB="7112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2240"/>
                        </a:lnSpc>
                        <a:buNone/>
                      </a:pPr>
                      <a:r>
                        <a:rPr lang="en-US" sz="1600" dirty="0">
                          <a:solidFill>
                            <a:srgbClr val="1B2430"/>
                          </a:solidFill>
                          <a:latin typeface="Noto Sans KR" pitchFamily="34" charset="0"/>
                          <a:ea typeface="Noto Sans KR" pitchFamily="34" charset="-122"/>
                          <a:cs typeface="Noto Sans KR" pitchFamily="34" charset="-120"/>
                        </a:rPr>
                        <a:t>의미가 가까운 것끼리 비교</a:t>
                      </a:r>
                      <a:endParaRPr lang="en-US" sz="1600" dirty="0">
                        <a:latin typeface="Noto Sans KR" charset="0"/>
                        <a:ea typeface="Noto Sans KR" charset="0"/>
                        <a:cs typeface="Noto Sans KR" charset="0"/>
                      </a:endParaRPr>
                    </a:p>
                  </a:txBody>
                  <a:tcPr marL="71120" marR="71120" marT="71120" marB="7112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r h="439420">
                <a:tc>
                  <a:txBody>
                    <a:bodyPr/>
                    <a:lstStyle/>
                    <a:p>
                      <a:pPr indent="0" marL="0">
                        <a:lnSpc>
                          <a:spcPts val="2240"/>
                        </a:lnSpc>
                        <a:buNone/>
                      </a:pPr>
                      <a:r>
                        <a:rPr lang="en-US" sz="1600" dirty="0">
                          <a:solidFill>
                            <a:srgbClr val="1B2430"/>
                          </a:solidFill>
                          <a:latin typeface="Noto Sans KR" pitchFamily="34" charset="0"/>
                          <a:ea typeface="Noto Sans KR" pitchFamily="34" charset="-122"/>
                          <a:cs typeface="Noto Sans KR" pitchFamily="34" charset="-120"/>
                        </a:rPr>
                        <a:t>저장</a:t>
                      </a:r>
                      <a:endParaRPr lang="en-US" sz="1600" dirty="0">
                        <a:latin typeface="Noto Sans KR" charset="0"/>
                        <a:ea typeface="Noto Sans KR" charset="0"/>
                        <a:cs typeface="Noto Sans KR" charset="0"/>
                      </a:endParaRPr>
                    </a:p>
                  </a:txBody>
                  <a:tcPr marL="71120" marR="71120" marT="71120" marB="7112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2240"/>
                        </a:lnSpc>
                        <a:buNone/>
                      </a:pPr>
                      <a:r>
                        <a:rPr lang="en-US" sz="1600" dirty="0">
                          <a:solidFill>
                            <a:srgbClr val="1B2430"/>
                          </a:solidFill>
                          <a:latin typeface="Noto Sans KR" pitchFamily="34" charset="0"/>
                          <a:ea typeface="Noto Sans KR" pitchFamily="34" charset="-122"/>
                          <a:cs typeface="Noto Sans KR" pitchFamily="34" charset="-120"/>
                        </a:rPr>
                        <a:t>벡터·원문·출처 저장</a:t>
                      </a:r>
                      <a:endParaRPr lang="en-US" sz="1600" dirty="0">
                        <a:latin typeface="Noto Sans KR" charset="0"/>
                        <a:ea typeface="Noto Sans KR" charset="0"/>
                        <a:cs typeface="Noto Sans KR" charset="0"/>
                      </a:endParaRPr>
                    </a:p>
                  </a:txBody>
                  <a:tcPr marL="71120" marR="71120" marT="71120" marB="7112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2240"/>
                        </a:lnSpc>
                        <a:buNone/>
                      </a:pPr>
                      <a:r>
                        <a:rPr lang="en-US" sz="1600" dirty="0">
                          <a:solidFill>
                            <a:srgbClr val="1B2430"/>
                          </a:solidFill>
                          <a:latin typeface="Noto Sans KR" pitchFamily="34" charset="0"/>
                          <a:ea typeface="Noto Sans KR" pitchFamily="34" charset="-122"/>
                          <a:cs typeface="Noto Sans KR" pitchFamily="34" charset="-120"/>
                        </a:rPr>
                        <a:t>빠른 검색과 출처 표시</a:t>
                      </a:r>
                      <a:endParaRPr lang="en-US" sz="1600" dirty="0">
                        <a:latin typeface="Noto Sans KR" charset="0"/>
                        <a:ea typeface="Noto Sans KR" charset="0"/>
                        <a:cs typeface="Noto Sans KR" charset="0"/>
                      </a:endParaRPr>
                    </a:p>
                  </a:txBody>
                  <a:tcPr marL="71120" marR="71120" marT="71120" marB="7112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bl>
          </a:graphicData>
        </a:graphic>
      </p:graphicFrame>
      <p:sp>
        <p:nvSpPr>
          <p:cNvPr id="5" name="Text 2"/>
          <p:cNvSpPr/>
          <p:nvPr/>
        </p:nvSpPr>
        <p:spPr>
          <a:xfrm>
            <a:off x="812800" y="6238239"/>
            <a:ext cx="2000726"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472"/>
                </a:solidFill>
                <a:latin typeface="Noto Sans KR" pitchFamily="34" charset="0"/>
                <a:ea typeface="Noto Sans KR" pitchFamily="34" charset="-122"/>
                <a:cs typeface="Noto Sans KR" pitchFamily="34" charset="-120"/>
              </a:rPr>
              <a:t>COW AI팀 1조 · RAG 입문</a:t>
            </a:r>
            <a:endParaRPr lang="en-US" sz="1200" dirty="0"/>
          </a:p>
        </p:txBody>
      </p:sp>
      <p:sp>
        <p:nvSpPr>
          <p:cNvPr id="6" name="Text 3"/>
          <p:cNvSpPr/>
          <p:nvPr/>
        </p:nvSpPr>
        <p:spPr>
          <a:xfrm>
            <a:off x="10566400" y="6238239"/>
            <a:ext cx="812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472"/>
                </a:solidFill>
                <a:latin typeface="Noto Sans KR" pitchFamily="34" charset="0"/>
                <a:ea typeface="Noto Sans KR" pitchFamily="34" charset="-122"/>
                <a:cs typeface="Noto Sans KR" pitchFamily="34" charset="-120"/>
              </a:rPr>
              <a:t>07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3EC"/>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B2430"/>
                </a:solidFill>
                <a:latin typeface="Noto Serif KR" pitchFamily="18" charset="0"/>
                <a:ea typeface="Noto Serif KR" pitchFamily="18" charset="-122"/>
                <a:cs typeface="Noto Serif KR" pitchFamily="18" charset="-120"/>
              </a:rPr>
              <a:t>임베딩과 유사도 검색</a:t>
            </a:r>
            <a:endParaRPr lang="en-US" sz="3200" dirty="0"/>
          </a:p>
        </p:txBody>
      </p:sp>
      <p:sp>
        <p:nvSpPr>
          <p:cNvPr id="3" name="Shape 1"/>
          <p:cNvSpPr/>
          <p:nvPr/>
        </p:nvSpPr>
        <p:spPr>
          <a:xfrm>
            <a:off x="812800" y="1496061"/>
            <a:ext cx="5080000" cy="0"/>
          </a:xfrm>
          <a:prstGeom prst="line">
            <a:avLst/>
          </a:prstGeom>
          <a:noFill/>
          <a:ln w="25400">
            <a:solidFill>
              <a:srgbClr val="1B2430"/>
            </a:solidFill>
            <a:prstDash val="solid"/>
          </a:ln>
        </p:spPr>
      </p:sp>
      <p:sp>
        <p:nvSpPr>
          <p:cNvPr id="4" name="Text 2"/>
          <p:cNvSpPr/>
          <p:nvPr/>
        </p:nvSpPr>
        <p:spPr>
          <a:xfrm>
            <a:off x="812800" y="1686561"/>
            <a:ext cx="5232400" cy="238760"/>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C2410C"/>
                </a:solidFill>
                <a:latin typeface="Noto Sans KR" pitchFamily="34" charset="0"/>
                <a:ea typeface="Noto Sans KR" pitchFamily="34" charset="-122"/>
                <a:cs typeface="Noto Sans KR" pitchFamily="34" charset="-120"/>
              </a:rPr>
              <a:t>01 · 임베딩</a:t>
            </a:r>
            <a:endParaRPr lang="en-US" sz="1200" dirty="0"/>
          </a:p>
        </p:txBody>
      </p:sp>
      <p:sp>
        <p:nvSpPr>
          <p:cNvPr id="5" name="Text 3"/>
          <p:cNvSpPr/>
          <p:nvPr/>
        </p:nvSpPr>
        <p:spPr>
          <a:xfrm>
            <a:off x="812800" y="1976121"/>
            <a:ext cx="5232400" cy="635000"/>
          </a:xfrm>
          <a:prstGeom prst="rect">
            <a:avLst/>
          </a:prstGeom>
          <a:noFill/>
          <a:ln/>
        </p:spPr>
        <p:txBody>
          <a:bodyPr wrap="square" lIns="0" tIns="0" rIns="0" bIns="0" rtlCol="0" anchor="t">
            <a:normAutofit/>
          </a:bodyPr>
          <a:lstStyle/>
          <a:p>
            <a:pPr algn="l" indent="0" marL="0">
              <a:lnSpc>
                <a:spcPts val="2400"/>
              </a:lnSpc>
              <a:buNone/>
            </a:pPr>
            <a:r>
              <a:rPr lang="en-US" sz="1600" dirty="0">
                <a:solidFill>
                  <a:srgbClr val="1B2430"/>
                </a:solidFill>
                <a:latin typeface="Noto Sans KR" pitchFamily="34" charset="0"/>
                <a:ea typeface="Noto Sans KR" pitchFamily="34" charset="-122"/>
                <a:cs typeface="Noto Sans KR" pitchFamily="34" charset="-120"/>
              </a:rPr>
              <a:t>글을 고정 길이의 숫자 목록(벡터)으로 바꾼다. 실제로는 수백 차원이며, 의미가 비슷하면 가까이 놓인다.</a:t>
            </a:r>
            <a:endParaRPr lang="en-US" sz="1600" dirty="0"/>
          </a:p>
        </p:txBody>
      </p:sp>
      <p:sp>
        <p:nvSpPr>
          <p:cNvPr id="6" name="Shape 4"/>
          <p:cNvSpPr/>
          <p:nvPr/>
        </p:nvSpPr>
        <p:spPr>
          <a:xfrm>
            <a:off x="6299200" y="1496061"/>
            <a:ext cx="5080000" cy="0"/>
          </a:xfrm>
          <a:prstGeom prst="line">
            <a:avLst/>
          </a:prstGeom>
          <a:noFill/>
          <a:ln w="25400">
            <a:solidFill>
              <a:srgbClr val="1B2430"/>
            </a:solidFill>
            <a:prstDash val="solid"/>
          </a:ln>
        </p:spPr>
      </p:sp>
      <p:sp>
        <p:nvSpPr>
          <p:cNvPr id="7" name="Text 5"/>
          <p:cNvSpPr/>
          <p:nvPr/>
        </p:nvSpPr>
        <p:spPr>
          <a:xfrm>
            <a:off x="6299200" y="1686561"/>
            <a:ext cx="5232400" cy="238760"/>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C2410C"/>
                </a:solidFill>
                <a:latin typeface="Noto Sans KR" pitchFamily="34" charset="0"/>
                <a:ea typeface="Noto Sans KR" pitchFamily="34" charset="-122"/>
                <a:cs typeface="Noto Sans KR" pitchFamily="34" charset="-120"/>
              </a:rPr>
              <a:t>02 · 유사도 검색</a:t>
            </a:r>
            <a:endParaRPr lang="en-US" sz="1200" dirty="0"/>
          </a:p>
        </p:txBody>
      </p:sp>
      <p:sp>
        <p:nvSpPr>
          <p:cNvPr id="8" name="Text 6"/>
          <p:cNvSpPr/>
          <p:nvPr/>
        </p:nvSpPr>
        <p:spPr>
          <a:xfrm>
            <a:off x="6299200" y="1976121"/>
            <a:ext cx="5232400" cy="635000"/>
          </a:xfrm>
          <a:prstGeom prst="rect">
            <a:avLst/>
          </a:prstGeom>
          <a:noFill/>
          <a:ln/>
        </p:spPr>
        <p:txBody>
          <a:bodyPr wrap="square" lIns="0" tIns="0" rIns="0" bIns="0" rtlCol="0" anchor="t">
            <a:normAutofit/>
          </a:bodyPr>
          <a:lstStyle/>
          <a:p>
            <a:pPr algn="l" indent="0" marL="0">
              <a:lnSpc>
                <a:spcPts val="2400"/>
              </a:lnSpc>
              <a:buNone/>
            </a:pPr>
            <a:r>
              <a:rPr lang="en-US" sz="1600" dirty="0">
                <a:solidFill>
                  <a:srgbClr val="1B2430"/>
                </a:solidFill>
                <a:latin typeface="Noto Sans KR" pitchFamily="34" charset="0"/>
                <a:ea typeface="Noto Sans KR" pitchFamily="34" charset="-122"/>
                <a:cs typeface="Noto Sans KR" pitchFamily="34" charset="-120"/>
              </a:rPr>
              <a:t>질문도 같은 모델로 벡터로 바꾸고, 저장된 벡터들과 코사인 유사도를 계산해 가장 높은 k개(top-k)를 가져온다.</a:t>
            </a:r>
            <a:endParaRPr lang="en-US" sz="16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825500" y="2801621"/>
          <a:ext cx="10553700" cy="2197100"/>
        </p:xfrm>
        <a:graphic>
          <a:graphicData uri="http://schemas.openxmlformats.org/drawingml/2006/table">
            <a:tbl>
              <a:tblPr/>
              <a:tblGrid>
                <a:gridCol w="5276850"/>
                <a:gridCol w="2110740"/>
                <a:gridCol w="3166110"/>
              </a:tblGrid>
              <a:tr h="439420">
                <a:tc>
                  <a:txBody>
                    <a:bodyPr/>
                    <a:lstStyle/>
                    <a:p>
                      <a:pPr indent="0" marL="0">
                        <a:lnSpc>
                          <a:spcPts val="2240"/>
                        </a:lnSpc>
                        <a:buNone/>
                      </a:pPr>
                      <a:r>
                        <a:rPr lang="en-US" sz="1600" b="1" dirty="0">
                          <a:solidFill>
                            <a:srgbClr val="1B2430"/>
                          </a:solidFill>
                          <a:latin typeface="Noto Sans KR" pitchFamily="34" charset="0"/>
                          <a:ea typeface="Noto Sans KR" pitchFamily="34" charset="-122"/>
                          <a:cs typeface="Noto Sans KR" pitchFamily="34" charset="-120"/>
                        </a:rPr>
                        <a:t>문장</a:t>
                      </a:r>
                      <a:endParaRPr lang="en-US" sz="1600" dirty="0">
                        <a:latin typeface="Noto Sans KR" charset="0"/>
                        <a:ea typeface="Noto Sans KR" charset="0"/>
                        <a:cs typeface="Noto Sans KR" charset="0"/>
                      </a:endParaRPr>
                    </a:p>
                  </a:txBody>
                  <a:tcPr marL="71120" marR="71120" marT="71120" marB="71120" anchor="t">
                    <a:lnL w="12700" cap="flat" cmpd="sng" algn="ctr">
                      <a:solidFill>
                        <a:srgbClr val="C4C2BC"/>
                      </a:solidFill>
                      <a:prstDash val="solid"/>
                      <a:round/>
                      <a:headEnd type="none" w="med" len="med"/>
                      <a:tailEnd type="none" w="med" len="med"/>
                    </a:lnL>
                    <a:lnR w="12700" cap="flat" cmpd="sng" algn="ctr">
                      <a:solidFill>
                        <a:srgbClr val="B6B4AF"/>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6B4AF"/>
                      </a:solidFill>
                      <a:prstDash val="solid"/>
                      <a:round/>
                      <a:headEnd type="none" w="med" len="med"/>
                      <a:tailEnd type="none" w="med" len="med"/>
                    </a:lnB>
                    <a:solidFill>
                      <a:srgbClr val="E4E1DB"/>
                    </a:solidFill>
                  </a:tcPr>
                </a:tc>
                <a:tc>
                  <a:txBody>
                    <a:bodyPr/>
                    <a:lstStyle/>
                    <a:p>
                      <a:pPr indent="0" marL="0">
                        <a:lnSpc>
                          <a:spcPts val="2240"/>
                        </a:lnSpc>
                        <a:buNone/>
                      </a:pPr>
                      <a:r>
                        <a:rPr lang="en-US" sz="1600" b="1" dirty="0">
                          <a:solidFill>
                            <a:srgbClr val="1B2430"/>
                          </a:solidFill>
                          <a:latin typeface="Noto Sans KR" pitchFamily="34" charset="0"/>
                          <a:ea typeface="Noto Sans KR" pitchFamily="34" charset="-122"/>
                          <a:cs typeface="Noto Sans KR" pitchFamily="34" charset="-120"/>
                        </a:rPr>
                        <a:t>벡터</a:t>
                      </a:r>
                      <a:endParaRPr lang="en-US" sz="1600" dirty="0">
                        <a:latin typeface="Noto Sans KR" charset="0"/>
                        <a:ea typeface="Noto Sans KR" charset="0"/>
                        <a:cs typeface="Noto Sans KR" charset="0"/>
                      </a:endParaRPr>
                    </a:p>
                  </a:txBody>
                  <a:tcPr marL="71120" marR="71120" marT="71120" marB="71120" anchor="t">
                    <a:lnL w="12700" cap="flat" cmpd="sng" algn="ctr">
                      <a:solidFill>
                        <a:srgbClr val="B6B4AF"/>
                      </a:solidFill>
                      <a:prstDash val="solid"/>
                      <a:round/>
                      <a:headEnd type="none" w="med" len="med"/>
                      <a:tailEnd type="none" w="med" len="med"/>
                    </a:lnL>
                    <a:lnR w="12700" cap="flat" cmpd="sng" algn="ctr">
                      <a:solidFill>
                        <a:srgbClr val="B6B4AF"/>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6B4AF"/>
                      </a:solidFill>
                      <a:prstDash val="solid"/>
                      <a:round/>
                      <a:headEnd type="none" w="med" len="med"/>
                      <a:tailEnd type="none" w="med" len="med"/>
                    </a:lnB>
                    <a:solidFill>
                      <a:srgbClr val="E4E1DB"/>
                    </a:solidFill>
                  </a:tcPr>
                </a:tc>
                <a:tc>
                  <a:txBody>
                    <a:bodyPr/>
                    <a:lstStyle/>
                    <a:p>
                      <a:pPr indent="0" marL="0">
                        <a:lnSpc>
                          <a:spcPts val="2240"/>
                        </a:lnSpc>
                        <a:buNone/>
                      </a:pPr>
                      <a:r>
                        <a:rPr lang="en-US" sz="1600" b="1" dirty="0">
                          <a:solidFill>
                            <a:srgbClr val="1B2430"/>
                          </a:solidFill>
                          <a:latin typeface="Noto Sans KR" pitchFamily="34" charset="0"/>
                          <a:ea typeface="Noto Sans KR" pitchFamily="34" charset="-122"/>
                          <a:cs typeface="Noto Sans KR" pitchFamily="34" charset="-120"/>
                        </a:rPr>
                        <a:t>질문과의 유사도</a:t>
                      </a:r>
                      <a:endParaRPr lang="en-US" sz="1600" dirty="0">
                        <a:latin typeface="Noto Sans KR" charset="0"/>
                        <a:ea typeface="Noto Sans KR" charset="0"/>
                        <a:cs typeface="Noto Sans KR" charset="0"/>
                      </a:endParaRPr>
                    </a:p>
                  </a:txBody>
                  <a:tcPr marL="71120" marR="71120" marT="71120" marB="71120" anchor="t">
                    <a:lnL w="12700" cap="flat" cmpd="sng" algn="ctr">
                      <a:solidFill>
                        <a:srgbClr val="B6B4AF"/>
                      </a:solidFill>
                      <a:prstDash val="solid"/>
                      <a:round/>
                      <a:headEnd type="none" w="med" len="med"/>
                      <a:tailEnd type="none" w="med" len="med"/>
                    </a:lnL>
                    <a:lnR w="12700" cap="flat" cmpd="sng" algn="ctr">
                      <a:solidFill>
                        <a:srgbClr val="B6B4AF"/>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6B4AF"/>
                      </a:solidFill>
                      <a:prstDash val="solid"/>
                      <a:round/>
                      <a:headEnd type="none" w="med" len="med"/>
                      <a:tailEnd type="none" w="med" len="med"/>
                    </a:lnB>
                    <a:solidFill>
                      <a:srgbClr val="E4E1DB"/>
                    </a:solidFill>
                  </a:tcPr>
                </a:tc>
              </a:tr>
              <a:tr h="439420">
                <a:tc>
                  <a:txBody>
                    <a:bodyPr/>
                    <a:lstStyle/>
                    <a:p>
                      <a:pPr indent="0" marL="0">
                        <a:lnSpc>
                          <a:spcPts val="2240"/>
                        </a:lnSpc>
                        <a:buNone/>
                      </a:pPr>
                      <a:r>
                        <a:rPr lang="en-US" sz="1600" dirty="0">
                          <a:solidFill>
                            <a:srgbClr val="1B2430"/>
                          </a:solidFill>
                          <a:latin typeface="Noto Sans KR" pitchFamily="34" charset="0"/>
                          <a:ea typeface="Noto Sans KR" pitchFamily="34" charset="-122"/>
                          <a:cs typeface="Noto Sans KR" pitchFamily="34" charset="-120"/>
                        </a:rPr>
                        <a:t>질문 조용한 호수 추천</a:t>
                      </a:r>
                      <a:endParaRPr lang="en-US" sz="1600" dirty="0">
                        <a:latin typeface="Noto Sans KR" charset="0"/>
                        <a:ea typeface="Noto Sans KR" charset="0"/>
                        <a:cs typeface="Noto Sans KR" charset="0"/>
                      </a:endParaRPr>
                    </a:p>
                  </a:txBody>
                  <a:tcPr marL="71120" marR="71120" marT="71120" marB="7112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6B4AF"/>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2240"/>
                        </a:lnSpc>
                        <a:buNone/>
                      </a:pPr>
                      <a:r>
                        <a:rPr lang="en-US" sz="1600" dirty="0">
                          <a:solidFill>
                            <a:srgbClr val="1B2430"/>
                          </a:solidFill>
                          <a:latin typeface="Noto Sans KR" pitchFamily="34" charset="0"/>
                          <a:ea typeface="Noto Sans KR" pitchFamily="34" charset="-122"/>
                          <a:cs typeface="Noto Sans KR" pitchFamily="34" charset="-120"/>
                        </a:rPr>
                        <a:t>(0.9, 0.2)</a:t>
                      </a:r>
                      <a:endParaRPr lang="en-US" sz="1600" dirty="0">
                        <a:latin typeface="Noto Sans KR" charset="0"/>
                        <a:ea typeface="Noto Sans KR" charset="0"/>
                        <a:cs typeface="Noto Sans KR" charset="0"/>
                      </a:endParaRPr>
                    </a:p>
                  </a:txBody>
                  <a:tcPr marL="71120" marR="71120" marT="71120" marB="7112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6B4AF"/>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2240"/>
                        </a:lnSpc>
                        <a:buNone/>
                      </a:pPr>
                      <a:r>
                        <a:rPr lang="en-US" sz="1600" dirty="0">
                          <a:solidFill>
                            <a:srgbClr val="1B2430"/>
                          </a:solidFill>
                          <a:latin typeface="Noto Sans KR" pitchFamily="34" charset="0"/>
                          <a:ea typeface="Noto Sans KR" pitchFamily="34" charset="-122"/>
                          <a:cs typeface="Noto Sans KR" pitchFamily="34" charset="-120"/>
                        </a:rPr>
                        <a:t>-</a:t>
                      </a:r>
                      <a:endParaRPr lang="en-US" sz="1600" dirty="0">
                        <a:latin typeface="Noto Sans KR" charset="0"/>
                        <a:ea typeface="Noto Sans KR" charset="0"/>
                        <a:cs typeface="Noto Sans KR" charset="0"/>
                      </a:endParaRPr>
                    </a:p>
                  </a:txBody>
                  <a:tcPr marL="71120" marR="71120" marT="71120" marB="7112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6B4AF"/>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r h="439420">
                <a:tc>
                  <a:txBody>
                    <a:bodyPr/>
                    <a:lstStyle/>
                    <a:p>
                      <a:pPr indent="0" marL="0">
                        <a:lnSpc>
                          <a:spcPts val="2240"/>
                        </a:lnSpc>
                        <a:buNone/>
                      </a:pPr>
                      <a:r>
                        <a:rPr lang="en-US" sz="1600" dirty="0">
                          <a:solidFill>
                            <a:srgbClr val="1B2430"/>
                          </a:solidFill>
                          <a:latin typeface="Noto Sans KR" pitchFamily="34" charset="0"/>
                          <a:ea typeface="Noto Sans KR" pitchFamily="34" charset="-122"/>
                          <a:cs typeface="Noto Sans KR" pitchFamily="34" charset="-120"/>
                        </a:rPr>
                        <a:t>청크 A 잔잔한 호수 산책로 안내</a:t>
                      </a:r>
                      <a:endParaRPr lang="en-US" sz="1600" dirty="0">
                        <a:latin typeface="Noto Sans KR" charset="0"/>
                        <a:ea typeface="Noto Sans KR" charset="0"/>
                        <a:cs typeface="Noto Sans KR" charset="0"/>
                      </a:endParaRPr>
                    </a:p>
                  </a:txBody>
                  <a:tcPr marL="71120" marR="71120" marT="71120" marB="71120" anchor="t">
                    <a:lnL w="12700" cap="flat" cmpd="sng" algn="ctr">
                      <a:solidFill>
                        <a:srgbClr val="C4C2BC"/>
                      </a:solidFill>
                      <a:prstDash val="solid"/>
                      <a:round/>
                      <a:headEnd type="none" w="med" len="med"/>
                      <a:tailEnd type="none" w="med" len="med"/>
                    </a:lnL>
                    <a:lnR w="12700" cap="flat" cmpd="sng" algn="ctr">
                      <a:solidFill>
                        <a:srgbClr val="BFBAB0"/>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FBAB0"/>
                      </a:solidFill>
                      <a:prstDash val="solid"/>
                      <a:round/>
                      <a:headEnd type="none" w="med" len="med"/>
                      <a:tailEnd type="none" w="med" len="med"/>
                    </a:lnB>
                    <a:solidFill>
                      <a:srgbClr val="EFE9DC"/>
                    </a:solidFill>
                  </a:tcPr>
                </a:tc>
                <a:tc>
                  <a:txBody>
                    <a:bodyPr/>
                    <a:lstStyle/>
                    <a:p>
                      <a:pPr indent="0" marL="0">
                        <a:lnSpc>
                          <a:spcPts val="2240"/>
                        </a:lnSpc>
                        <a:buNone/>
                      </a:pPr>
                      <a:r>
                        <a:rPr lang="en-US" sz="1600" dirty="0">
                          <a:solidFill>
                            <a:srgbClr val="1B2430"/>
                          </a:solidFill>
                          <a:latin typeface="Noto Sans KR" pitchFamily="34" charset="0"/>
                          <a:ea typeface="Noto Sans KR" pitchFamily="34" charset="-122"/>
                          <a:cs typeface="Noto Sans KR" pitchFamily="34" charset="-120"/>
                        </a:rPr>
                        <a:t>(0.7, 0.4)</a:t>
                      </a:r>
                      <a:endParaRPr lang="en-US" sz="1600" dirty="0">
                        <a:latin typeface="Noto Sans KR" charset="0"/>
                        <a:ea typeface="Noto Sans KR" charset="0"/>
                        <a:cs typeface="Noto Sans KR" charset="0"/>
                      </a:endParaRPr>
                    </a:p>
                  </a:txBody>
                  <a:tcPr marL="71120" marR="71120" marT="71120" marB="71120" anchor="t">
                    <a:lnL w="12700" cap="flat" cmpd="sng" algn="ctr">
                      <a:solidFill>
                        <a:srgbClr val="BFBAB0"/>
                      </a:solidFill>
                      <a:prstDash val="solid"/>
                      <a:round/>
                      <a:headEnd type="none" w="med" len="med"/>
                      <a:tailEnd type="none" w="med" len="med"/>
                    </a:lnL>
                    <a:lnR w="12700" cap="flat" cmpd="sng" algn="ctr">
                      <a:solidFill>
                        <a:srgbClr val="BFBAB0"/>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FBAB0"/>
                      </a:solidFill>
                      <a:prstDash val="solid"/>
                      <a:round/>
                      <a:headEnd type="none" w="med" len="med"/>
                      <a:tailEnd type="none" w="med" len="med"/>
                    </a:lnB>
                    <a:solidFill>
                      <a:srgbClr val="EFE9DC"/>
                    </a:solidFill>
                  </a:tcPr>
                </a:tc>
                <a:tc>
                  <a:txBody>
                    <a:bodyPr/>
                    <a:lstStyle/>
                    <a:p>
                      <a:pPr indent="0" marL="0">
                        <a:lnSpc>
                          <a:spcPts val="2240"/>
                        </a:lnSpc>
                        <a:buNone/>
                      </a:pPr>
                      <a:r>
                        <a:rPr lang="en-US" sz="1600" dirty="0">
                          <a:solidFill>
                            <a:srgbClr val="1B2430"/>
                          </a:solidFill>
                          <a:latin typeface="Noto Sans KR" pitchFamily="34" charset="0"/>
                          <a:ea typeface="Noto Sans KR" pitchFamily="34" charset="-122"/>
                          <a:cs typeface="Noto Sans KR" pitchFamily="34" charset="-120"/>
                        </a:rPr>
                        <a:t>0.96 · 1위</a:t>
                      </a:r>
                      <a:endParaRPr lang="en-US" sz="1600" dirty="0">
                        <a:latin typeface="Noto Sans KR" charset="0"/>
                        <a:ea typeface="Noto Sans KR" charset="0"/>
                        <a:cs typeface="Noto Sans KR" charset="0"/>
                      </a:endParaRPr>
                    </a:p>
                  </a:txBody>
                  <a:tcPr marL="71120" marR="71120" marT="71120" marB="71120" anchor="t">
                    <a:lnL w="12700" cap="flat" cmpd="sng" algn="ctr">
                      <a:solidFill>
                        <a:srgbClr val="BFBAB0"/>
                      </a:solidFill>
                      <a:prstDash val="solid"/>
                      <a:round/>
                      <a:headEnd type="none" w="med" len="med"/>
                      <a:tailEnd type="none" w="med" len="med"/>
                    </a:lnL>
                    <a:lnR w="12700" cap="flat" cmpd="sng" algn="ctr">
                      <a:solidFill>
                        <a:srgbClr val="BFBAB0"/>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FBAB0"/>
                      </a:solidFill>
                      <a:prstDash val="solid"/>
                      <a:round/>
                      <a:headEnd type="none" w="med" len="med"/>
                      <a:tailEnd type="none" w="med" len="med"/>
                    </a:lnB>
                    <a:solidFill>
                      <a:srgbClr val="EFE9DC"/>
                    </a:solidFill>
                  </a:tcPr>
                </a:tc>
              </a:tr>
              <a:tr h="439420">
                <a:tc>
                  <a:txBody>
                    <a:bodyPr/>
                    <a:lstStyle/>
                    <a:p>
                      <a:pPr indent="0" marL="0">
                        <a:lnSpc>
                          <a:spcPts val="2240"/>
                        </a:lnSpc>
                        <a:buNone/>
                      </a:pPr>
                      <a:r>
                        <a:rPr lang="en-US" sz="1600" dirty="0">
                          <a:solidFill>
                            <a:srgbClr val="1B2430"/>
                          </a:solidFill>
                          <a:latin typeface="Noto Sans KR" pitchFamily="34" charset="0"/>
                          <a:ea typeface="Noto Sans KR" pitchFamily="34" charset="-122"/>
                          <a:cs typeface="Noto Sans KR" pitchFamily="34" charset="-120"/>
                        </a:rPr>
                        <a:t>청크 B 푸른 바다 해수욕장 소개</a:t>
                      </a:r>
                      <a:endParaRPr lang="en-US" sz="1600" dirty="0">
                        <a:latin typeface="Noto Sans KR" charset="0"/>
                        <a:ea typeface="Noto Sans KR" charset="0"/>
                        <a:cs typeface="Noto Sans KR" charset="0"/>
                      </a:endParaRPr>
                    </a:p>
                  </a:txBody>
                  <a:tcPr marL="71120" marR="71120" marT="71120" marB="7112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FBAB0"/>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2240"/>
                        </a:lnSpc>
                        <a:buNone/>
                      </a:pPr>
                      <a:r>
                        <a:rPr lang="en-US" sz="1600" dirty="0">
                          <a:solidFill>
                            <a:srgbClr val="1B2430"/>
                          </a:solidFill>
                          <a:latin typeface="Noto Sans KR" pitchFamily="34" charset="0"/>
                          <a:ea typeface="Noto Sans KR" pitchFamily="34" charset="-122"/>
                          <a:cs typeface="Noto Sans KR" pitchFamily="34" charset="-120"/>
                        </a:rPr>
                        <a:t>(0.5, 0.8)</a:t>
                      </a:r>
                      <a:endParaRPr lang="en-US" sz="1600" dirty="0">
                        <a:latin typeface="Noto Sans KR" charset="0"/>
                        <a:ea typeface="Noto Sans KR" charset="0"/>
                        <a:cs typeface="Noto Sans KR" charset="0"/>
                      </a:endParaRPr>
                    </a:p>
                  </a:txBody>
                  <a:tcPr marL="71120" marR="71120" marT="71120" marB="7112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FBAB0"/>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2240"/>
                        </a:lnSpc>
                        <a:buNone/>
                      </a:pPr>
                      <a:r>
                        <a:rPr lang="en-US" sz="1600" dirty="0">
                          <a:solidFill>
                            <a:srgbClr val="1B2430"/>
                          </a:solidFill>
                          <a:latin typeface="Noto Sans KR" pitchFamily="34" charset="0"/>
                          <a:ea typeface="Noto Sans KR" pitchFamily="34" charset="-122"/>
                          <a:cs typeface="Noto Sans KR" pitchFamily="34" charset="-120"/>
                        </a:rPr>
                        <a:t>0.70 · 2위</a:t>
                      </a:r>
                      <a:endParaRPr lang="en-US" sz="1600" dirty="0">
                        <a:latin typeface="Noto Sans KR" charset="0"/>
                        <a:ea typeface="Noto Sans KR" charset="0"/>
                        <a:cs typeface="Noto Sans KR" charset="0"/>
                      </a:endParaRPr>
                    </a:p>
                  </a:txBody>
                  <a:tcPr marL="71120" marR="71120" marT="71120" marB="7112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FBAB0"/>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r h="439420">
                <a:tc>
                  <a:txBody>
                    <a:bodyPr/>
                    <a:lstStyle/>
                    <a:p>
                      <a:pPr indent="0" marL="0">
                        <a:lnSpc>
                          <a:spcPts val="2240"/>
                        </a:lnSpc>
                        <a:buNone/>
                      </a:pPr>
                      <a:r>
                        <a:rPr lang="en-US" sz="1600" dirty="0">
                          <a:solidFill>
                            <a:srgbClr val="1B2430"/>
                          </a:solidFill>
                          <a:latin typeface="Noto Sans KR" pitchFamily="34" charset="0"/>
                          <a:ea typeface="Noto Sans KR" pitchFamily="34" charset="-122"/>
                          <a:cs typeface="Noto Sans KR" pitchFamily="34" charset="-120"/>
                        </a:rPr>
                        <a:t>청크 C 치킨 맛집 후기</a:t>
                      </a:r>
                      <a:endParaRPr lang="en-US" sz="1600" dirty="0">
                        <a:latin typeface="Noto Sans KR" charset="0"/>
                        <a:ea typeface="Noto Sans KR" charset="0"/>
                        <a:cs typeface="Noto Sans KR" charset="0"/>
                      </a:endParaRPr>
                    </a:p>
                  </a:txBody>
                  <a:tcPr marL="71120" marR="71120" marT="71120" marB="7112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2240"/>
                        </a:lnSpc>
                        <a:buNone/>
                      </a:pPr>
                      <a:r>
                        <a:rPr lang="en-US" sz="1600" dirty="0">
                          <a:solidFill>
                            <a:srgbClr val="1B2430"/>
                          </a:solidFill>
                          <a:latin typeface="Noto Sans KR" pitchFamily="34" charset="0"/>
                          <a:ea typeface="Noto Sans KR" pitchFamily="34" charset="-122"/>
                          <a:cs typeface="Noto Sans KR" pitchFamily="34" charset="-120"/>
                        </a:rPr>
                        <a:t>(0.1, 0.9)</a:t>
                      </a:r>
                      <a:endParaRPr lang="en-US" sz="1600" dirty="0">
                        <a:latin typeface="Noto Sans KR" charset="0"/>
                        <a:ea typeface="Noto Sans KR" charset="0"/>
                        <a:cs typeface="Noto Sans KR" charset="0"/>
                      </a:endParaRPr>
                    </a:p>
                  </a:txBody>
                  <a:tcPr marL="71120" marR="71120" marT="71120" marB="7112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2240"/>
                        </a:lnSpc>
                        <a:buNone/>
                      </a:pPr>
                      <a:r>
                        <a:rPr lang="en-US" sz="1600" dirty="0">
                          <a:solidFill>
                            <a:srgbClr val="1B2430"/>
                          </a:solidFill>
                          <a:latin typeface="Noto Sans KR" pitchFamily="34" charset="0"/>
                          <a:ea typeface="Noto Sans KR" pitchFamily="34" charset="-122"/>
                          <a:cs typeface="Noto Sans KR" pitchFamily="34" charset="-120"/>
                        </a:rPr>
                        <a:t>0.32 · 3위</a:t>
                      </a:r>
                      <a:endParaRPr lang="en-US" sz="1600" dirty="0">
                        <a:latin typeface="Noto Sans KR" charset="0"/>
                        <a:ea typeface="Noto Sans KR" charset="0"/>
                        <a:cs typeface="Noto Sans KR" charset="0"/>
                      </a:endParaRPr>
                    </a:p>
                  </a:txBody>
                  <a:tcPr marL="71120" marR="71120" marT="71120" marB="7112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bl>
          </a:graphicData>
        </a:graphic>
      </p:graphicFrame>
      <p:sp>
        <p:nvSpPr>
          <p:cNvPr id="10" name="Text 7"/>
          <p:cNvSpPr/>
          <p:nvPr/>
        </p:nvSpPr>
        <p:spPr>
          <a:xfrm>
            <a:off x="812800" y="5201921"/>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F4A59"/>
                </a:solidFill>
                <a:latin typeface="Noto Sans KR" pitchFamily="34" charset="0"/>
                <a:ea typeface="Noto Sans KR" pitchFamily="34" charset="-122"/>
                <a:cs typeface="Noto Sans KR" pitchFamily="34" charset="-120"/>
              </a:rPr>
              <a:t>설명용 가상 2차원 값 · cos(a, b) = a · b / (|a| |b|) · k=2이면 A와 B를 가져온다</a:t>
            </a:r>
            <a:endParaRPr lang="en-US" sz="1200" dirty="0"/>
          </a:p>
        </p:txBody>
      </p:sp>
      <p:sp>
        <p:nvSpPr>
          <p:cNvPr id="11" name="Text 8"/>
          <p:cNvSpPr/>
          <p:nvPr/>
        </p:nvSpPr>
        <p:spPr>
          <a:xfrm>
            <a:off x="812800" y="6238242"/>
            <a:ext cx="2000726"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472"/>
                </a:solidFill>
                <a:latin typeface="Noto Sans KR" pitchFamily="34" charset="0"/>
                <a:ea typeface="Noto Sans KR" pitchFamily="34" charset="-122"/>
                <a:cs typeface="Noto Sans KR" pitchFamily="34" charset="-120"/>
              </a:rPr>
              <a:t>COW AI팀 1조 · RAG 입문</a:t>
            </a:r>
            <a:endParaRPr lang="en-US" sz="1200" dirty="0"/>
          </a:p>
        </p:txBody>
      </p:sp>
      <p:sp>
        <p:nvSpPr>
          <p:cNvPr id="12" name="Text 9"/>
          <p:cNvSpPr/>
          <p:nvPr/>
        </p:nvSpPr>
        <p:spPr>
          <a:xfrm>
            <a:off x="10566400" y="6238242"/>
            <a:ext cx="812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472"/>
                </a:solidFill>
                <a:latin typeface="Noto Sans KR" pitchFamily="34" charset="0"/>
                <a:ea typeface="Noto Sans KR" pitchFamily="34" charset="-122"/>
                <a:cs typeface="Noto Sans KR" pitchFamily="34" charset="-120"/>
              </a:rPr>
              <a:t>08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B2430"/>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F6F3EC"/>
                </a:solidFill>
                <a:latin typeface="Noto Serif KR" pitchFamily="18" charset="0"/>
                <a:ea typeface="Noto Serif KR" pitchFamily="18" charset="-122"/>
                <a:cs typeface="Noto Serif KR" pitchFamily="18" charset="-120"/>
              </a:rPr>
              <a:t>우리 프로젝트와의 연결</a:t>
            </a:r>
            <a:endParaRPr lang="en-US" sz="32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825500" y="1597664"/>
          <a:ext cx="10553700" cy="2197100"/>
        </p:xfrm>
        <a:graphic>
          <a:graphicData uri="http://schemas.openxmlformats.org/drawingml/2006/table">
            <a:tbl>
              <a:tblPr/>
              <a:tblGrid>
                <a:gridCol w="1899666"/>
                <a:gridCol w="3377184"/>
                <a:gridCol w="5276850"/>
              </a:tblGrid>
              <a:tr h="439420">
                <a:tc>
                  <a:txBody>
                    <a:bodyPr/>
                    <a:lstStyle/>
                    <a:p>
                      <a:pPr indent="0" marL="0">
                        <a:lnSpc>
                          <a:spcPts val="2240"/>
                        </a:lnSpc>
                        <a:buNone/>
                      </a:pPr>
                      <a:r>
                        <a:rPr lang="en-US" sz="1600" b="1" dirty="0">
                          <a:solidFill>
                            <a:srgbClr val="F59E5B"/>
                          </a:solidFill>
                          <a:latin typeface="Noto Sans KR" pitchFamily="34" charset="0"/>
                          <a:ea typeface="Noto Sans KR" pitchFamily="34" charset="-122"/>
                          <a:cs typeface="Noto Sans KR" pitchFamily="34" charset="-120"/>
                        </a:rPr>
                        <a:t>단계</a:t>
                      </a:r>
                      <a:endParaRPr lang="en-US" sz="1600" dirty="0">
                        <a:latin typeface="Noto Sans KR" charset="0"/>
                        <a:ea typeface="Noto Sans KR" charset="0"/>
                        <a:cs typeface="Noto Sans KR" charset="0"/>
                      </a:endParaRPr>
                    </a:p>
                  </a:txBody>
                  <a:tcPr marL="71120" marR="71120" marT="71120" marB="71120" anchor="t">
                    <a:lnL w="12700" cap="flat" cmpd="sng" algn="ctr">
                      <a:solidFill>
                        <a:srgbClr val="4C535B"/>
                      </a:solidFill>
                      <a:prstDash val="solid"/>
                      <a:round/>
                      <a:headEnd type="none" w="med" len="med"/>
                      <a:tailEnd type="none" w="med" len="med"/>
                    </a:lnL>
                    <a:lnR w="12700" cap="flat" cmpd="sng" algn="ctr">
                      <a:solidFill>
                        <a:srgbClr val="5A6068"/>
                      </a:solidFill>
                      <a:prstDash val="solid"/>
                      <a:round/>
                      <a:headEnd type="none" w="med" len="med"/>
                      <a:tailEnd type="none" w="med" len="med"/>
                    </a:lnR>
                    <a:lnT w="12700" cap="flat" cmpd="sng" algn="ctr">
                      <a:solidFill>
                        <a:srgbClr val="4C535B"/>
                      </a:solidFill>
                      <a:prstDash val="solid"/>
                      <a:round/>
                      <a:headEnd type="none" w="med" len="med"/>
                      <a:tailEnd type="none" w="med" len="med"/>
                    </a:lnT>
                    <a:lnB w="12700" cap="flat" cmpd="sng" algn="ctr">
                      <a:solidFill>
                        <a:srgbClr val="5A6068"/>
                      </a:solidFill>
                      <a:prstDash val="solid"/>
                      <a:round/>
                      <a:headEnd type="none" w="med" len="med"/>
                      <a:tailEnd type="none" w="med" len="med"/>
                    </a:lnB>
                    <a:solidFill>
                      <a:srgbClr val="2D3540"/>
                    </a:solidFill>
                  </a:tcPr>
                </a:tc>
                <a:tc>
                  <a:txBody>
                    <a:bodyPr/>
                    <a:lstStyle/>
                    <a:p>
                      <a:pPr indent="0" marL="0">
                        <a:lnSpc>
                          <a:spcPts val="2240"/>
                        </a:lnSpc>
                        <a:buNone/>
                      </a:pPr>
                      <a:r>
                        <a:rPr lang="en-US" sz="1600" b="1" dirty="0">
                          <a:solidFill>
                            <a:srgbClr val="F59E5B"/>
                          </a:solidFill>
                          <a:latin typeface="Noto Sans KR" pitchFamily="34" charset="0"/>
                          <a:ea typeface="Noto Sans KR" pitchFamily="34" charset="-122"/>
                          <a:cs typeface="Noto Sans KR" pitchFamily="34" charset="-120"/>
                        </a:rPr>
                        <a:t>일반 RAG</a:t>
                      </a:r>
                      <a:endParaRPr lang="en-US" sz="1600" dirty="0">
                        <a:latin typeface="Noto Sans KR" charset="0"/>
                        <a:ea typeface="Noto Sans KR" charset="0"/>
                        <a:cs typeface="Noto Sans KR" charset="0"/>
                      </a:endParaRPr>
                    </a:p>
                  </a:txBody>
                  <a:tcPr marL="71120" marR="71120" marT="71120" marB="71120" anchor="t">
                    <a:lnL w="12700" cap="flat" cmpd="sng" algn="ctr">
                      <a:solidFill>
                        <a:srgbClr val="5A6068"/>
                      </a:solidFill>
                      <a:prstDash val="solid"/>
                      <a:round/>
                      <a:headEnd type="none" w="med" len="med"/>
                      <a:tailEnd type="none" w="med" len="med"/>
                    </a:lnL>
                    <a:lnR w="12700" cap="flat" cmpd="sng" algn="ctr">
                      <a:solidFill>
                        <a:srgbClr val="5A6068"/>
                      </a:solidFill>
                      <a:prstDash val="solid"/>
                      <a:round/>
                      <a:headEnd type="none" w="med" len="med"/>
                      <a:tailEnd type="none" w="med" len="med"/>
                    </a:lnR>
                    <a:lnT w="12700" cap="flat" cmpd="sng" algn="ctr">
                      <a:solidFill>
                        <a:srgbClr val="4C535B"/>
                      </a:solidFill>
                      <a:prstDash val="solid"/>
                      <a:round/>
                      <a:headEnd type="none" w="med" len="med"/>
                      <a:tailEnd type="none" w="med" len="med"/>
                    </a:lnT>
                    <a:lnB w="12700" cap="flat" cmpd="sng" algn="ctr">
                      <a:solidFill>
                        <a:srgbClr val="5A6068"/>
                      </a:solidFill>
                      <a:prstDash val="solid"/>
                      <a:round/>
                      <a:headEnd type="none" w="med" len="med"/>
                      <a:tailEnd type="none" w="med" len="med"/>
                    </a:lnB>
                    <a:solidFill>
                      <a:srgbClr val="2D3540"/>
                    </a:solidFill>
                  </a:tcPr>
                </a:tc>
                <a:tc>
                  <a:txBody>
                    <a:bodyPr/>
                    <a:lstStyle/>
                    <a:p>
                      <a:pPr indent="0" marL="0">
                        <a:lnSpc>
                          <a:spcPts val="2240"/>
                        </a:lnSpc>
                        <a:buNone/>
                      </a:pPr>
                      <a:r>
                        <a:rPr lang="en-US" sz="1600" b="1" dirty="0">
                          <a:solidFill>
                            <a:srgbClr val="F59E5B"/>
                          </a:solidFill>
                          <a:latin typeface="Noto Sans KR" pitchFamily="34" charset="0"/>
                          <a:ea typeface="Noto Sans KR" pitchFamily="34" charset="-122"/>
                          <a:cs typeface="Noto Sans KR" pitchFamily="34" charset="-120"/>
                        </a:rPr>
                        <a:t>우리 프로젝트</a:t>
                      </a:r>
                      <a:endParaRPr lang="en-US" sz="1600" dirty="0">
                        <a:latin typeface="Noto Sans KR" charset="0"/>
                        <a:ea typeface="Noto Sans KR" charset="0"/>
                        <a:cs typeface="Noto Sans KR" charset="0"/>
                      </a:endParaRPr>
                    </a:p>
                  </a:txBody>
                  <a:tcPr marL="71120" marR="71120" marT="71120" marB="71120" anchor="t">
                    <a:lnL w="12700" cap="flat" cmpd="sng" algn="ctr">
                      <a:solidFill>
                        <a:srgbClr val="5A6068"/>
                      </a:solidFill>
                      <a:prstDash val="solid"/>
                      <a:round/>
                      <a:headEnd type="none" w="med" len="med"/>
                      <a:tailEnd type="none" w="med" len="med"/>
                    </a:lnL>
                    <a:lnR w="12700" cap="flat" cmpd="sng" algn="ctr">
                      <a:solidFill>
                        <a:srgbClr val="5A6068"/>
                      </a:solidFill>
                      <a:prstDash val="solid"/>
                      <a:round/>
                      <a:headEnd type="none" w="med" len="med"/>
                      <a:tailEnd type="none" w="med" len="med"/>
                    </a:lnR>
                    <a:lnT w="12700" cap="flat" cmpd="sng" algn="ctr">
                      <a:solidFill>
                        <a:srgbClr val="4C535B"/>
                      </a:solidFill>
                      <a:prstDash val="solid"/>
                      <a:round/>
                      <a:headEnd type="none" w="med" len="med"/>
                      <a:tailEnd type="none" w="med" len="med"/>
                    </a:lnT>
                    <a:lnB w="12700" cap="flat" cmpd="sng" algn="ctr">
                      <a:solidFill>
                        <a:srgbClr val="5A6068"/>
                      </a:solidFill>
                      <a:prstDash val="solid"/>
                      <a:round/>
                      <a:headEnd type="none" w="med" len="med"/>
                      <a:tailEnd type="none" w="med" len="med"/>
                    </a:lnB>
                    <a:solidFill>
                      <a:srgbClr val="2D3540"/>
                    </a:solidFill>
                  </a:tcPr>
                </a:tc>
              </a:tr>
              <a:tr h="439420">
                <a:tc>
                  <a:txBody>
                    <a:bodyPr/>
                    <a:lstStyle/>
                    <a:p>
                      <a:pPr indent="0" marL="0">
                        <a:lnSpc>
                          <a:spcPts val="2240"/>
                        </a:lnSpc>
                        <a:buNone/>
                      </a:pPr>
                      <a:r>
                        <a:rPr lang="en-US" sz="1600" dirty="0">
                          <a:solidFill>
                            <a:srgbClr val="F6F3EC"/>
                          </a:solidFill>
                          <a:latin typeface="Noto Sans KR" pitchFamily="34" charset="0"/>
                          <a:ea typeface="Noto Sans KR" pitchFamily="34" charset="-122"/>
                          <a:cs typeface="Noto Sans KR" pitchFamily="34" charset="-120"/>
                        </a:rPr>
                        <a:t>지식 베이스</a:t>
                      </a:r>
                      <a:endParaRPr lang="en-US" sz="1600" dirty="0">
                        <a:latin typeface="Noto Sans KR" charset="0"/>
                        <a:ea typeface="Noto Sans KR" charset="0"/>
                        <a:cs typeface="Noto Sans KR" charset="0"/>
                      </a:endParaRPr>
                    </a:p>
                  </a:txBody>
                  <a:tcPr marL="71120" marR="71120" marT="71120" marB="71120" anchor="t">
                    <a:lnL w="12700" cap="flat" cmpd="sng" algn="ctr">
                      <a:solidFill>
                        <a:srgbClr val="4C535B"/>
                      </a:solidFill>
                      <a:prstDash val="solid"/>
                      <a:round/>
                      <a:headEnd type="none" w="med" len="med"/>
                      <a:tailEnd type="none" w="med" len="med"/>
                    </a:lnL>
                    <a:lnR w="12700" cap="flat" cmpd="sng" algn="ctr">
                      <a:solidFill>
                        <a:srgbClr val="4C535B"/>
                      </a:solidFill>
                      <a:prstDash val="solid"/>
                      <a:round/>
                      <a:headEnd type="none" w="med" len="med"/>
                      <a:tailEnd type="none" w="med" len="med"/>
                    </a:lnR>
                    <a:lnT w="12700" cap="flat" cmpd="sng" algn="ctr">
                      <a:solidFill>
                        <a:srgbClr val="5A6068"/>
                      </a:solidFill>
                      <a:prstDash val="solid"/>
                      <a:round/>
                      <a:headEnd type="none" w="med" len="med"/>
                      <a:tailEnd type="none" w="med" len="med"/>
                    </a:lnT>
                    <a:lnB w="12700" cap="flat" cmpd="sng" algn="ctr">
                      <a:solidFill>
                        <a:srgbClr val="4C535B"/>
                      </a:solidFill>
                      <a:prstDash val="solid"/>
                      <a:round/>
                      <a:headEnd type="none" w="med" len="med"/>
                      <a:tailEnd type="none" w="med" len="med"/>
                    </a:lnB>
                  </a:tcPr>
                </a:tc>
                <a:tc>
                  <a:txBody>
                    <a:bodyPr/>
                    <a:lstStyle/>
                    <a:p>
                      <a:pPr indent="0" marL="0">
                        <a:lnSpc>
                          <a:spcPts val="2240"/>
                        </a:lnSpc>
                        <a:buNone/>
                      </a:pPr>
                      <a:r>
                        <a:rPr lang="en-US" sz="1600" dirty="0">
                          <a:solidFill>
                            <a:srgbClr val="F6F3EC"/>
                          </a:solidFill>
                          <a:latin typeface="Noto Sans KR" pitchFamily="34" charset="0"/>
                          <a:ea typeface="Noto Sans KR" pitchFamily="34" charset="-122"/>
                          <a:cs typeface="Noto Sans KR" pitchFamily="34" charset="-120"/>
                        </a:rPr>
                        <a:t>문서 조각(청크)</a:t>
                      </a:r>
                      <a:endParaRPr lang="en-US" sz="1600" dirty="0">
                        <a:latin typeface="Noto Sans KR" charset="0"/>
                        <a:ea typeface="Noto Sans KR" charset="0"/>
                        <a:cs typeface="Noto Sans KR" charset="0"/>
                      </a:endParaRPr>
                    </a:p>
                  </a:txBody>
                  <a:tcPr marL="71120" marR="71120" marT="71120" marB="71120" anchor="t">
                    <a:lnL w="12700" cap="flat" cmpd="sng" algn="ctr">
                      <a:solidFill>
                        <a:srgbClr val="4C535B"/>
                      </a:solidFill>
                      <a:prstDash val="solid"/>
                      <a:round/>
                      <a:headEnd type="none" w="med" len="med"/>
                      <a:tailEnd type="none" w="med" len="med"/>
                    </a:lnL>
                    <a:lnR w="12700" cap="flat" cmpd="sng" algn="ctr">
                      <a:solidFill>
                        <a:srgbClr val="4C535B"/>
                      </a:solidFill>
                      <a:prstDash val="solid"/>
                      <a:round/>
                      <a:headEnd type="none" w="med" len="med"/>
                      <a:tailEnd type="none" w="med" len="med"/>
                    </a:lnR>
                    <a:lnT w="12700" cap="flat" cmpd="sng" algn="ctr">
                      <a:solidFill>
                        <a:srgbClr val="5A6068"/>
                      </a:solidFill>
                      <a:prstDash val="solid"/>
                      <a:round/>
                      <a:headEnd type="none" w="med" len="med"/>
                      <a:tailEnd type="none" w="med" len="med"/>
                    </a:lnT>
                    <a:lnB w="12700" cap="flat" cmpd="sng" algn="ctr">
                      <a:solidFill>
                        <a:srgbClr val="4C535B"/>
                      </a:solidFill>
                      <a:prstDash val="solid"/>
                      <a:round/>
                      <a:headEnd type="none" w="med" len="med"/>
                      <a:tailEnd type="none" w="med" len="med"/>
                    </a:lnB>
                  </a:tcPr>
                </a:tc>
                <a:tc>
                  <a:txBody>
                    <a:bodyPr/>
                    <a:lstStyle/>
                    <a:p>
                      <a:pPr indent="0" marL="0">
                        <a:lnSpc>
                          <a:spcPts val="2240"/>
                        </a:lnSpc>
                        <a:buNone/>
                      </a:pPr>
                      <a:r>
                        <a:rPr lang="en-US" sz="1600" dirty="0">
                          <a:solidFill>
                            <a:srgbClr val="F6F3EC"/>
                          </a:solidFill>
                          <a:latin typeface="Noto Sans KR" pitchFamily="34" charset="0"/>
                          <a:ea typeface="Noto Sans KR" pitchFamily="34" charset="-122"/>
                          <a:cs typeface="Noto Sans KR" pitchFamily="34" charset="-120"/>
                        </a:rPr>
                        <a:t>장소 카드(이름·좌표·소개글·사진 URL)</a:t>
                      </a:r>
                      <a:endParaRPr lang="en-US" sz="1600" dirty="0">
                        <a:latin typeface="Noto Sans KR" charset="0"/>
                        <a:ea typeface="Noto Sans KR" charset="0"/>
                        <a:cs typeface="Noto Sans KR" charset="0"/>
                      </a:endParaRPr>
                    </a:p>
                  </a:txBody>
                  <a:tcPr marL="71120" marR="71120" marT="71120" marB="71120" anchor="t">
                    <a:lnL w="12700" cap="flat" cmpd="sng" algn="ctr">
                      <a:solidFill>
                        <a:srgbClr val="4C535B"/>
                      </a:solidFill>
                      <a:prstDash val="solid"/>
                      <a:round/>
                      <a:headEnd type="none" w="med" len="med"/>
                      <a:tailEnd type="none" w="med" len="med"/>
                    </a:lnL>
                    <a:lnR w="12700" cap="flat" cmpd="sng" algn="ctr">
                      <a:solidFill>
                        <a:srgbClr val="4C535B"/>
                      </a:solidFill>
                      <a:prstDash val="solid"/>
                      <a:round/>
                      <a:headEnd type="none" w="med" len="med"/>
                      <a:tailEnd type="none" w="med" len="med"/>
                    </a:lnR>
                    <a:lnT w="12700" cap="flat" cmpd="sng" algn="ctr">
                      <a:solidFill>
                        <a:srgbClr val="5A6068"/>
                      </a:solidFill>
                      <a:prstDash val="solid"/>
                      <a:round/>
                      <a:headEnd type="none" w="med" len="med"/>
                      <a:tailEnd type="none" w="med" len="med"/>
                    </a:lnT>
                    <a:lnB w="12700" cap="flat" cmpd="sng" algn="ctr">
                      <a:solidFill>
                        <a:srgbClr val="4C535B"/>
                      </a:solidFill>
                      <a:prstDash val="solid"/>
                      <a:round/>
                      <a:headEnd type="none" w="med" len="med"/>
                      <a:tailEnd type="none" w="med" len="med"/>
                    </a:lnB>
                  </a:tcPr>
                </a:tc>
              </a:tr>
              <a:tr h="439420">
                <a:tc>
                  <a:txBody>
                    <a:bodyPr/>
                    <a:lstStyle/>
                    <a:p>
                      <a:pPr indent="0" marL="0">
                        <a:lnSpc>
                          <a:spcPts val="2240"/>
                        </a:lnSpc>
                        <a:buNone/>
                      </a:pPr>
                      <a:r>
                        <a:rPr lang="en-US" sz="1600" dirty="0">
                          <a:solidFill>
                            <a:srgbClr val="F6F3EC"/>
                          </a:solidFill>
                          <a:latin typeface="Noto Sans KR" pitchFamily="34" charset="0"/>
                          <a:ea typeface="Noto Sans KR" pitchFamily="34" charset="-122"/>
                          <a:cs typeface="Noto Sans KR" pitchFamily="34" charset="-120"/>
                        </a:rPr>
                        <a:t>검색</a:t>
                      </a:r>
                      <a:endParaRPr lang="en-US" sz="1600" dirty="0">
                        <a:latin typeface="Noto Sans KR" charset="0"/>
                        <a:ea typeface="Noto Sans KR" charset="0"/>
                        <a:cs typeface="Noto Sans KR" charset="0"/>
                      </a:endParaRPr>
                    </a:p>
                  </a:txBody>
                  <a:tcPr marL="71120" marR="71120" marT="71120" marB="71120" anchor="t">
                    <a:lnL w="12700" cap="flat" cmpd="sng" algn="ctr">
                      <a:solidFill>
                        <a:srgbClr val="4C535B"/>
                      </a:solidFill>
                      <a:prstDash val="solid"/>
                      <a:round/>
                      <a:headEnd type="none" w="med" len="med"/>
                      <a:tailEnd type="none" w="med" len="med"/>
                    </a:lnL>
                    <a:lnR w="12700" cap="flat" cmpd="sng" algn="ctr">
                      <a:solidFill>
                        <a:srgbClr val="4C535B"/>
                      </a:solidFill>
                      <a:prstDash val="solid"/>
                      <a:round/>
                      <a:headEnd type="none" w="med" len="med"/>
                      <a:tailEnd type="none" w="med" len="med"/>
                    </a:lnR>
                    <a:lnT w="12700" cap="flat" cmpd="sng" algn="ctr">
                      <a:solidFill>
                        <a:srgbClr val="4C535B"/>
                      </a:solidFill>
                      <a:prstDash val="solid"/>
                      <a:round/>
                      <a:headEnd type="none" w="med" len="med"/>
                      <a:tailEnd type="none" w="med" len="med"/>
                    </a:lnT>
                    <a:lnB w="12700" cap="flat" cmpd="sng" algn="ctr">
                      <a:solidFill>
                        <a:srgbClr val="4C535B"/>
                      </a:solidFill>
                      <a:prstDash val="solid"/>
                      <a:round/>
                      <a:headEnd type="none" w="med" len="med"/>
                      <a:tailEnd type="none" w="med" len="med"/>
                    </a:lnB>
                  </a:tcPr>
                </a:tc>
                <a:tc>
                  <a:txBody>
                    <a:bodyPr/>
                    <a:lstStyle/>
                    <a:p>
                      <a:pPr indent="0" marL="0">
                        <a:lnSpc>
                          <a:spcPts val="2240"/>
                        </a:lnSpc>
                        <a:buNone/>
                      </a:pPr>
                      <a:r>
                        <a:rPr lang="en-US" sz="1600" dirty="0">
                          <a:solidFill>
                            <a:srgbClr val="F6F3EC"/>
                          </a:solidFill>
                          <a:latin typeface="Noto Sans KR" pitchFamily="34" charset="0"/>
                          <a:ea typeface="Noto Sans KR" pitchFamily="34" charset="-122"/>
                          <a:cs typeface="Noto Sans KR" pitchFamily="34" charset="-120"/>
                        </a:rPr>
                        <a:t>질문 글을 벡터로</a:t>
                      </a:r>
                      <a:endParaRPr lang="en-US" sz="1600" dirty="0">
                        <a:latin typeface="Noto Sans KR" charset="0"/>
                        <a:ea typeface="Noto Sans KR" charset="0"/>
                        <a:cs typeface="Noto Sans KR" charset="0"/>
                      </a:endParaRPr>
                    </a:p>
                  </a:txBody>
                  <a:tcPr marL="71120" marR="71120" marT="71120" marB="71120" anchor="t">
                    <a:lnL w="12700" cap="flat" cmpd="sng" algn="ctr">
                      <a:solidFill>
                        <a:srgbClr val="4C535B"/>
                      </a:solidFill>
                      <a:prstDash val="solid"/>
                      <a:round/>
                      <a:headEnd type="none" w="med" len="med"/>
                      <a:tailEnd type="none" w="med" len="med"/>
                    </a:lnL>
                    <a:lnR w="12700" cap="flat" cmpd="sng" algn="ctr">
                      <a:solidFill>
                        <a:srgbClr val="4C535B"/>
                      </a:solidFill>
                      <a:prstDash val="solid"/>
                      <a:round/>
                      <a:headEnd type="none" w="med" len="med"/>
                      <a:tailEnd type="none" w="med" len="med"/>
                    </a:lnR>
                    <a:lnT w="12700" cap="flat" cmpd="sng" algn="ctr">
                      <a:solidFill>
                        <a:srgbClr val="4C535B"/>
                      </a:solidFill>
                      <a:prstDash val="solid"/>
                      <a:round/>
                      <a:headEnd type="none" w="med" len="med"/>
                      <a:tailEnd type="none" w="med" len="med"/>
                    </a:lnT>
                    <a:lnB w="12700" cap="flat" cmpd="sng" algn="ctr">
                      <a:solidFill>
                        <a:srgbClr val="4C535B"/>
                      </a:solidFill>
                      <a:prstDash val="solid"/>
                      <a:round/>
                      <a:headEnd type="none" w="med" len="med"/>
                      <a:tailEnd type="none" w="med" len="med"/>
                    </a:lnB>
                  </a:tcPr>
                </a:tc>
                <a:tc>
                  <a:txBody>
                    <a:bodyPr/>
                    <a:lstStyle/>
                    <a:p>
                      <a:pPr indent="0" marL="0">
                        <a:lnSpc>
                          <a:spcPts val="2240"/>
                        </a:lnSpc>
                        <a:buNone/>
                      </a:pPr>
                      <a:r>
                        <a:rPr lang="en-US" sz="1600" dirty="0">
                          <a:solidFill>
                            <a:srgbClr val="F6F3EC"/>
                          </a:solidFill>
                          <a:latin typeface="Noto Sans KR" pitchFamily="34" charset="0"/>
                          <a:ea typeface="Noto Sans KR" pitchFamily="34" charset="-122"/>
                          <a:cs typeface="Noto Sans KR" pitchFamily="34" charset="-120"/>
                        </a:rPr>
                        <a:t>사진을 벡터로 (멀티모달 검색)</a:t>
                      </a:r>
                      <a:endParaRPr lang="en-US" sz="1600" dirty="0">
                        <a:latin typeface="Noto Sans KR" charset="0"/>
                        <a:ea typeface="Noto Sans KR" charset="0"/>
                        <a:cs typeface="Noto Sans KR" charset="0"/>
                      </a:endParaRPr>
                    </a:p>
                  </a:txBody>
                  <a:tcPr marL="71120" marR="71120" marT="71120" marB="71120" anchor="t">
                    <a:lnL w="12700" cap="flat" cmpd="sng" algn="ctr">
                      <a:solidFill>
                        <a:srgbClr val="4C535B"/>
                      </a:solidFill>
                      <a:prstDash val="solid"/>
                      <a:round/>
                      <a:headEnd type="none" w="med" len="med"/>
                      <a:tailEnd type="none" w="med" len="med"/>
                    </a:lnL>
                    <a:lnR w="12700" cap="flat" cmpd="sng" algn="ctr">
                      <a:solidFill>
                        <a:srgbClr val="4C535B"/>
                      </a:solidFill>
                      <a:prstDash val="solid"/>
                      <a:round/>
                      <a:headEnd type="none" w="med" len="med"/>
                      <a:tailEnd type="none" w="med" len="med"/>
                    </a:lnR>
                    <a:lnT w="12700" cap="flat" cmpd="sng" algn="ctr">
                      <a:solidFill>
                        <a:srgbClr val="4C535B"/>
                      </a:solidFill>
                      <a:prstDash val="solid"/>
                      <a:round/>
                      <a:headEnd type="none" w="med" len="med"/>
                      <a:tailEnd type="none" w="med" len="med"/>
                    </a:lnT>
                    <a:lnB w="12700" cap="flat" cmpd="sng" algn="ctr">
                      <a:solidFill>
                        <a:srgbClr val="4C535B"/>
                      </a:solidFill>
                      <a:prstDash val="solid"/>
                      <a:round/>
                      <a:headEnd type="none" w="med" len="med"/>
                      <a:tailEnd type="none" w="med" len="med"/>
                    </a:lnB>
                  </a:tcPr>
                </a:tc>
              </a:tr>
              <a:tr h="439420">
                <a:tc>
                  <a:txBody>
                    <a:bodyPr/>
                    <a:lstStyle/>
                    <a:p>
                      <a:pPr indent="0" marL="0">
                        <a:lnSpc>
                          <a:spcPts val="2240"/>
                        </a:lnSpc>
                        <a:buNone/>
                      </a:pPr>
                      <a:r>
                        <a:rPr lang="en-US" sz="1600" dirty="0">
                          <a:solidFill>
                            <a:srgbClr val="F6F3EC"/>
                          </a:solidFill>
                          <a:latin typeface="Noto Sans KR" pitchFamily="34" charset="0"/>
                          <a:ea typeface="Noto Sans KR" pitchFamily="34" charset="-122"/>
                          <a:cs typeface="Noto Sans KR" pitchFamily="34" charset="-120"/>
                        </a:rPr>
                        <a:t>생성</a:t>
                      </a:r>
                      <a:endParaRPr lang="en-US" sz="1600" dirty="0">
                        <a:latin typeface="Noto Sans KR" charset="0"/>
                        <a:ea typeface="Noto Sans KR" charset="0"/>
                        <a:cs typeface="Noto Sans KR" charset="0"/>
                      </a:endParaRPr>
                    </a:p>
                  </a:txBody>
                  <a:tcPr marL="71120" marR="71120" marT="71120" marB="71120" anchor="t">
                    <a:lnL w="12700" cap="flat" cmpd="sng" algn="ctr">
                      <a:solidFill>
                        <a:srgbClr val="4C535B"/>
                      </a:solidFill>
                      <a:prstDash val="solid"/>
                      <a:round/>
                      <a:headEnd type="none" w="med" len="med"/>
                      <a:tailEnd type="none" w="med" len="med"/>
                    </a:lnL>
                    <a:lnR w="12700" cap="flat" cmpd="sng" algn="ctr">
                      <a:solidFill>
                        <a:srgbClr val="4C535B"/>
                      </a:solidFill>
                      <a:prstDash val="solid"/>
                      <a:round/>
                      <a:headEnd type="none" w="med" len="med"/>
                      <a:tailEnd type="none" w="med" len="med"/>
                    </a:lnR>
                    <a:lnT w="12700" cap="flat" cmpd="sng" algn="ctr">
                      <a:solidFill>
                        <a:srgbClr val="4C535B"/>
                      </a:solidFill>
                      <a:prstDash val="solid"/>
                      <a:round/>
                      <a:headEnd type="none" w="med" len="med"/>
                      <a:tailEnd type="none" w="med" len="med"/>
                    </a:lnT>
                    <a:lnB w="12700" cap="flat" cmpd="sng" algn="ctr">
                      <a:solidFill>
                        <a:srgbClr val="4C535B"/>
                      </a:solidFill>
                      <a:prstDash val="solid"/>
                      <a:round/>
                      <a:headEnd type="none" w="med" len="med"/>
                      <a:tailEnd type="none" w="med" len="med"/>
                    </a:lnB>
                  </a:tcPr>
                </a:tc>
                <a:tc>
                  <a:txBody>
                    <a:bodyPr/>
                    <a:lstStyle/>
                    <a:p>
                      <a:pPr indent="0" marL="0">
                        <a:lnSpc>
                          <a:spcPts val="2240"/>
                        </a:lnSpc>
                        <a:buNone/>
                      </a:pPr>
                      <a:r>
                        <a:rPr lang="en-US" sz="1600" dirty="0">
                          <a:solidFill>
                            <a:srgbClr val="F6F3EC"/>
                          </a:solidFill>
                          <a:latin typeface="Noto Sans KR" pitchFamily="34" charset="0"/>
                          <a:ea typeface="Noto Sans KR" pitchFamily="34" charset="-122"/>
                          <a:cs typeface="Noto Sans KR" pitchFamily="34" charset="-120"/>
                        </a:rPr>
                        <a:t>근거 자료로 답 생성</a:t>
                      </a:r>
                      <a:endParaRPr lang="en-US" sz="1600" dirty="0">
                        <a:latin typeface="Noto Sans KR" charset="0"/>
                        <a:ea typeface="Noto Sans KR" charset="0"/>
                        <a:cs typeface="Noto Sans KR" charset="0"/>
                      </a:endParaRPr>
                    </a:p>
                  </a:txBody>
                  <a:tcPr marL="71120" marR="71120" marT="71120" marB="71120" anchor="t">
                    <a:lnL w="12700" cap="flat" cmpd="sng" algn="ctr">
                      <a:solidFill>
                        <a:srgbClr val="4C535B"/>
                      </a:solidFill>
                      <a:prstDash val="solid"/>
                      <a:round/>
                      <a:headEnd type="none" w="med" len="med"/>
                      <a:tailEnd type="none" w="med" len="med"/>
                    </a:lnL>
                    <a:lnR w="12700" cap="flat" cmpd="sng" algn="ctr">
                      <a:solidFill>
                        <a:srgbClr val="4C535B"/>
                      </a:solidFill>
                      <a:prstDash val="solid"/>
                      <a:round/>
                      <a:headEnd type="none" w="med" len="med"/>
                      <a:tailEnd type="none" w="med" len="med"/>
                    </a:lnR>
                    <a:lnT w="12700" cap="flat" cmpd="sng" algn="ctr">
                      <a:solidFill>
                        <a:srgbClr val="4C535B"/>
                      </a:solidFill>
                      <a:prstDash val="solid"/>
                      <a:round/>
                      <a:headEnd type="none" w="med" len="med"/>
                      <a:tailEnd type="none" w="med" len="med"/>
                    </a:lnT>
                    <a:lnB w="12700" cap="flat" cmpd="sng" algn="ctr">
                      <a:solidFill>
                        <a:srgbClr val="4C535B"/>
                      </a:solidFill>
                      <a:prstDash val="solid"/>
                      <a:round/>
                      <a:headEnd type="none" w="med" len="med"/>
                      <a:tailEnd type="none" w="med" len="med"/>
                    </a:lnB>
                  </a:tcPr>
                </a:tc>
                <a:tc>
                  <a:txBody>
                    <a:bodyPr/>
                    <a:lstStyle/>
                    <a:p>
                      <a:pPr indent="0" marL="0">
                        <a:lnSpc>
                          <a:spcPts val="2240"/>
                        </a:lnSpc>
                        <a:buNone/>
                      </a:pPr>
                      <a:r>
                        <a:rPr lang="en-US" sz="1600" dirty="0">
                          <a:solidFill>
                            <a:srgbClr val="F6F3EC"/>
                          </a:solidFill>
                          <a:latin typeface="Noto Sans KR" pitchFamily="34" charset="0"/>
                          <a:ea typeface="Noto Sans KR" pitchFamily="34" charset="-122"/>
                          <a:cs typeface="Noto Sans KR" pitchFamily="34" charset="-120"/>
                        </a:rPr>
                        <a:t>검색된 장소 카드만 근거로 설명</a:t>
                      </a:r>
                      <a:endParaRPr lang="en-US" sz="1600" dirty="0">
                        <a:latin typeface="Noto Sans KR" charset="0"/>
                        <a:ea typeface="Noto Sans KR" charset="0"/>
                        <a:cs typeface="Noto Sans KR" charset="0"/>
                      </a:endParaRPr>
                    </a:p>
                  </a:txBody>
                  <a:tcPr marL="71120" marR="71120" marT="71120" marB="71120" anchor="t">
                    <a:lnL w="12700" cap="flat" cmpd="sng" algn="ctr">
                      <a:solidFill>
                        <a:srgbClr val="4C535B"/>
                      </a:solidFill>
                      <a:prstDash val="solid"/>
                      <a:round/>
                      <a:headEnd type="none" w="med" len="med"/>
                      <a:tailEnd type="none" w="med" len="med"/>
                    </a:lnL>
                    <a:lnR w="12700" cap="flat" cmpd="sng" algn="ctr">
                      <a:solidFill>
                        <a:srgbClr val="4C535B"/>
                      </a:solidFill>
                      <a:prstDash val="solid"/>
                      <a:round/>
                      <a:headEnd type="none" w="med" len="med"/>
                      <a:tailEnd type="none" w="med" len="med"/>
                    </a:lnR>
                    <a:lnT w="12700" cap="flat" cmpd="sng" algn="ctr">
                      <a:solidFill>
                        <a:srgbClr val="4C535B"/>
                      </a:solidFill>
                      <a:prstDash val="solid"/>
                      <a:round/>
                      <a:headEnd type="none" w="med" len="med"/>
                      <a:tailEnd type="none" w="med" len="med"/>
                    </a:lnT>
                    <a:lnB w="12700" cap="flat" cmpd="sng" algn="ctr">
                      <a:solidFill>
                        <a:srgbClr val="4C535B"/>
                      </a:solidFill>
                      <a:prstDash val="solid"/>
                      <a:round/>
                      <a:headEnd type="none" w="med" len="med"/>
                      <a:tailEnd type="none" w="med" len="med"/>
                    </a:lnB>
                  </a:tcPr>
                </a:tc>
              </a:tr>
              <a:tr h="439420">
                <a:tc>
                  <a:txBody>
                    <a:bodyPr/>
                    <a:lstStyle/>
                    <a:p>
                      <a:pPr indent="0" marL="0">
                        <a:lnSpc>
                          <a:spcPts val="2240"/>
                        </a:lnSpc>
                        <a:buNone/>
                      </a:pPr>
                      <a:r>
                        <a:rPr lang="en-US" sz="1600" dirty="0">
                          <a:solidFill>
                            <a:srgbClr val="F6F3EC"/>
                          </a:solidFill>
                          <a:latin typeface="Noto Sans KR" pitchFamily="34" charset="0"/>
                          <a:ea typeface="Noto Sans KR" pitchFamily="34" charset="-122"/>
                          <a:cs typeface="Noto Sans KR" pitchFamily="34" charset="-120"/>
                        </a:rPr>
                        <a:t>검증</a:t>
                      </a:r>
                      <a:endParaRPr lang="en-US" sz="1600" dirty="0">
                        <a:latin typeface="Noto Sans KR" charset="0"/>
                        <a:ea typeface="Noto Sans KR" charset="0"/>
                        <a:cs typeface="Noto Sans KR" charset="0"/>
                      </a:endParaRPr>
                    </a:p>
                  </a:txBody>
                  <a:tcPr marL="71120" marR="71120" marT="71120" marB="71120" anchor="t">
                    <a:lnL w="12700" cap="flat" cmpd="sng" algn="ctr">
                      <a:solidFill>
                        <a:srgbClr val="4C535B"/>
                      </a:solidFill>
                      <a:prstDash val="solid"/>
                      <a:round/>
                      <a:headEnd type="none" w="med" len="med"/>
                      <a:tailEnd type="none" w="med" len="med"/>
                    </a:lnL>
                    <a:lnR w="12700" cap="flat" cmpd="sng" algn="ctr">
                      <a:solidFill>
                        <a:srgbClr val="4C535B"/>
                      </a:solidFill>
                      <a:prstDash val="solid"/>
                      <a:round/>
                      <a:headEnd type="none" w="med" len="med"/>
                      <a:tailEnd type="none" w="med" len="med"/>
                    </a:lnR>
                    <a:lnT w="12700" cap="flat" cmpd="sng" algn="ctr">
                      <a:solidFill>
                        <a:srgbClr val="4C535B"/>
                      </a:solidFill>
                      <a:prstDash val="solid"/>
                      <a:round/>
                      <a:headEnd type="none" w="med" len="med"/>
                      <a:tailEnd type="none" w="med" len="med"/>
                    </a:lnT>
                    <a:lnB w="12700" cap="flat" cmpd="sng" algn="ctr">
                      <a:solidFill>
                        <a:srgbClr val="4C535B"/>
                      </a:solidFill>
                      <a:prstDash val="solid"/>
                      <a:round/>
                      <a:headEnd type="none" w="med" len="med"/>
                      <a:tailEnd type="none" w="med" len="med"/>
                    </a:lnB>
                  </a:tcPr>
                </a:tc>
                <a:tc>
                  <a:txBody>
                    <a:bodyPr/>
                    <a:lstStyle/>
                    <a:p>
                      <a:pPr indent="0" marL="0">
                        <a:lnSpc>
                          <a:spcPts val="2240"/>
                        </a:lnSpc>
                        <a:buNone/>
                      </a:pPr>
                      <a:r>
                        <a:rPr lang="en-US" sz="1600" dirty="0">
                          <a:solidFill>
                            <a:srgbClr val="F6F3EC"/>
                          </a:solidFill>
                          <a:latin typeface="Noto Sans KR" pitchFamily="34" charset="0"/>
                          <a:ea typeface="Noto Sans KR" pitchFamily="34" charset="-122"/>
                          <a:cs typeface="Noto Sans KR" pitchFamily="34" charset="-120"/>
                        </a:rPr>
                        <a:t>출처 표시</a:t>
                      </a:r>
                      <a:endParaRPr lang="en-US" sz="1600" dirty="0">
                        <a:latin typeface="Noto Sans KR" charset="0"/>
                        <a:ea typeface="Noto Sans KR" charset="0"/>
                        <a:cs typeface="Noto Sans KR" charset="0"/>
                      </a:endParaRPr>
                    </a:p>
                  </a:txBody>
                  <a:tcPr marL="71120" marR="71120" marT="71120" marB="71120" anchor="t">
                    <a:lnL w="12700" cap="flat" cmpd="sng" algn="ctr">
                      <a:solidFill>
                        <a:srgbClr val="4C535B"/>
                      </a:solidFill>
                      <a:prstDash val="solid"/>
                      <a:round/>
                      <a:headEnd type="none" w="med" len="med"/>
                      <a:tailEnd type="none" w="med" len="med"/>
                    </a:lnL>
                    <a:lnR w="12700" cap="flat" cmpd="sng" algn="ctr">
                      <a:solidFill>
                        <a:srgbClr val="4C535B"/>
                      </a:solidFill>
                      <a:prstDash val="solid"/>
                      <a:round/>
                      <a:headEnd type="none" w="med" len="med"/>
                      <a:tailEnd type="none" w="med" len="med"/>
                    </a:lnR>
                    <a:lnT w="12700" cap="flat" cmpd="sng" algn="ctr">
                      <a:solidFill>
                        <a:srgbClr val="4C535B"/>
                      </a:solidFill>
                      <a:prstDash val="solid"/>
                      <a:round/>
                      <a:headEnd type="none" w="med" len="med"/>
                      <a:tailEnd type="none" w="med" len="med"/>
                    </a:lnT>
                    <a:lnB w="12700" cap="flat" cmpd="sng" algn="ctr">
                      <a:solidFill>
                        <a:srgbClr val="4C535B"/>
                      </a:solidFill>
                      <a:prstDash val="solid"/>
                      <a:round/>
                      <a:headEnd type="none" w="med" len="med"/>
                      <a:tailEnd type="none" w="med" len="med"/>
                    </a:lnB>
                  </a:tcPr>
                </a:tc>
                <a:tc>
                  <a:txBody>
                    <a:bodyPr/>
                    <a:lstStyle/>
                    <a:p>
                      <a:pPr indent="0" marL="0">
                        <a:lnSpc>
                          <a:spcPts val="2240"/>
                        </a:lnSpc>
                        <a:buNone/>
                      </a:pPr>
                      <a:r>
                        <a:rPr lang="en-US" sz="1600" dirty="0">
                          <a:solidFill>
                            <a:srgbClr val="F6F3EC"/>
                          </a:solidFill>
                          <a:latin typeface="Noto Sans KR" pitchFamily="34" charset="0"/>
                          <a:ea typeface="Noto Sans KR" pitchFamily="34" charset="-122"/>
                          <a:cs typeface="Noto Sans KR" pitchFamily="34" charset="-120"/>
                        </a:rPr>
                        <a:t>place_id가 DB에 있는지 코드로 확인</a:t>
                      </a:r>
                      <a:endParaRPr lang="en-US" sz="1600" dirty="0">
                        <a:latin typeface="Noto Sans KR" charset="0"/>
                        <a:ea typeface="Noto Sans KR" charset="0"/>
                        <a:cs typeface="Noto Sans KR" charset="0"/>
                      </a:endParaRPr>
                    </a:p>
                  </a:txBody>
                  <a:tcPr marL="71120" marR="71120" marT="71120" marB="71120" anchor="t">
                    <a:lnL w="12700" cap="flat" cmpd="sng" algn="ctr">
                      <a:solidFill>
                        <a:srgbClr val="4C535B"/>
                      </a:solidFill>
                      <a:prstDash val="solid"/>
                      <a:round/>
                      <a:headEnd type="none" w="med" len="med"/>
                      <a:tailEnd type="none" w="med" len="med"/>
                    </a:lnL>
                    <a:lnR w="12700" cap="flat" cmpd="sng" algn="ctr">
                      <a:solidFill>
                        <a:srgbClr val="4C535B"/>
                      </a:solidFill>
                      <a:prstDash val="solid"/>
                      <a:round/>
                      <a:headEnd type="none" w="med" len="med"/>
                      <a:tailEnd type="none" w="med" len="med"/>
                    </a:lnR>
                    <a:lnT w="12700" cap="flat" cmpd="sng" algn="ctr">
                      <a:solidFill>
                        <a:srgbClr val="4C535B"/>
                      </a:solidFill>
                      <a:prstDash val="solid"/>
                      <a:round/>
                      <a:headEnd type="none" w="med" len="med"/>
                      <a:tailEnd type="none" w="med" len="med"/>
                    </a:lnT>
                    <a:lnB w="12700" cap="flat" cmpd="sng" algn="ctr">
                      <a:solidFill>
                        <a:srgbClr val="4C535B"/>
                      </a:solidFill>
                      <a:prstDash val="solid"/>
                      <a:round/>
                      <a:headEnd type="none" w="med" len="med"/>
                      <a:tailEnd type="none" w="med" len="med"/>
                    </a:lnB>
                  </a:tcPr>
                </a:tc>
              </a:tr>
            </a:tbl>
          </a:graphicData>
        </a:graphic>
      </p:graphicFrame>
      <p:sp>
        <p:nvSpPr>
          <p:cNvPr id="4" name="Text 1"/>
          <p:cNvSpPr/>
          <p:nvPr/>
        </p:nvSpPr>
        <p:spPr>
          <a:xfrm>
            <a:off x="812800" y="4099564"/>
            <a:ext cx="10883392" cy="330200"/>
          </a:xfrm>
          <a:prstGeom prst="rect">
            <a:avLst/>
          </a:prstGeom>
          <a:noFill/>
          <a:ln/>
        </p:spPr>
        <p:txBody>
          <a:bodyPr wrap="square" lIns="0" tIns="0" rIns="0" bIns="0" rtlCol="0" anchor="t">
            <a:normAutofit/>
          </a:bodyPr>
          <a:lstStyle/>
          <a:p>
            <a:pPr algn="l" indent="0" marL="0">
              <a:lnSpc>
                <a:spcPts val="2400"/>
              </a:lnSpc>
              <a:buNone/>
            </a:pPr>
            <a:r>
              <a:rPr lang="en-US" sz="1600" b="1" dirty="0">
                <a:solidFill>
                  <a:srgbClr val="F59E5B"/>
                </a:solidFill>
                <a:latin typeface="Noto Sans KR" pitchFamily="34" charset="0"/>
                <a:ea typeface="Noto Sans KR" pitchFamily="34" charset="-122"/>
                <a:cs typeface="Noto Sans KR" pitchFamily="34" charset="-120"/>
              </a:rPr>
              <a:t>다음 주(5주차): 검색 방법 고도화·검증, RAG 아키텍처 재설계</a:t>
            </a:r>
            <a:endParaRPr lang="en-US" sz="1600" dirty="0"/>
          </a:p>
        </p:txBody>
      </p:sp>
      <p:sp>
        <p:nvSpPr>
          <p:cNvPr id="5" name="Text 2"/>
          <p:cNvSpPr/>
          <p:nvPr/>
        </p:nvSpPr>
        <p:spPr>
          <a:xfrm>
            <a:off x="812800" y="6238242"/>
            <a:ext cx="2000726"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8C0CC"/>
                </a:solidFill>
                <a:latin typeface="Noto Sans KR" pitchFamily="34" charset="0"/>
                <a:ea typeface="Noto Sans KR" pitchFamily="34" charset="-122"/>
                <a:cs typeface="Noto Sans KR" pitchFamily="34" charset="-120"/>
              </a:rPr>
              <a:t>COW AI팀 1조 · RAG 입문</a:t>
            </a:r>
            <a:endParaRPr lang="en-US" sz="1200" dirty="0"/>
          </a:p>
        </p:txBody>
      </p:sp>
      <p:sp>
        <p:nvSpPr>
          <p:cNvPr id="6" name="Text 3"/>
          <p:cNvSpPr/>
          <p:nvPr/>
        </p:nvSpPr>
        <p:spPr>
          <a:xfrm>
            <a:off x="10566400" y="6238242"/>
            <a:ext cx="812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8C0CC"/>
                </a:solidFill>
                <a:latin typeface="Noto Sans KR" pitchFamily="34" charset="0"/>
                <a:ea typeface="Noto Sans KR" pitchFamily="34" charset="-122"/>
                <a:cs typeface="Noto Sans KR" pitchFamily="34" charset="-120"/>
              </a:rPr>
              <a:t>09</a:t>
            </a:r>
            <a:endParaRPr lang="en-US" sz="1200" dirty="0"/>
          </a:p>
        </p:txBody>
      </p:sp>
    </p:spTree>
  </p:cSld>
  <p:clrMapOvr>
    <a:masterClrMapping/>
  </p:clrMapOvr>
</p:sld>
</file>

<file path=ppt/theme/theme1.xml><?xml version="1.0" encoding="utf-8"?>
<a:theme xmlns:a="http://schemas.openxmlformats.org/drawingml/2006/main" name="RAG 입문 — 4주차 발표">
  <a:themeElements>
    <a:clrScheme name="RAG 입문 — 4주차 발표">
      <a:dk1>
        <a:srgbClr val="1B2430"/>
      </a:dk1>
      <a:lt1>
        <a:srgbClr val="F6F3EC"/>
      </a:lt1>
      <a:dk2>
        <a:srgbClr val="52585F"/>
      </a:dk2>
      <a:lt2>
        <a:srgbClr val="E0DED9"/>
      </a:lt2>
      <a:accent1>
        <a:srgbClr val="C2410C"/>
      </a:accent1>
      <a:accent2>
        <a:srgbClr val="F59E5B"/>
      </a:accent2>
      <a:accent3>
        <a:srgbClr val="1F4E8C"/>
      </a:accent3>
      <a:accent4>
        <a:srgbClr val="5B6472"/>
      </a:accent4>
      <a:accent5>
        <a:srgbClr val="D5DAE2"/>
      </a:accent5>
      <a:accent6>
        <a:srgbClr val="3F4A59"/>
      </a:accent6>
      <a:hlink>
        <a:srgbClr val="0563C1"/>
      </a:hlink>
      <a:folHlink>
        <a:srgbClr val="954F72"/>
      </a:folHlink>
    </a:clrScheme>
    <a:fontScheme name="RAG 입문 — 4주차 발표">
      <a:majorFont>
        <a:latin typeface="Noto Serif KR"/>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Noto Sans K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RAG 입문 — 4주차 발표</dc:title>
  <dc:subject/>
  <dc:creator/>
  <cp:lastModifiedBy/>
  <cp:revision>1</cp:revision>
  <dcterms:created xsi:type="dcterms:W3CDTF">2026-10-26T15:17:39Z</dcterms:created>
  <dcterms:modified xsi:type="dcterms:W3CDTF">2026-10-26T15:17:39Z</dcterms:modified>
</cp:coreProperties>
</file>