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embeddedFontLst>
    <p:embeddedFont>
      <p:font typeface="Noto Sans KR"/>
      <p:bold r:id="rId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75"/>
  </p:normalViewPr>
  <p:slideViewPr>
    <p:cSldViewPr snapToGrid="0" snapToObjects="1">
      <p:cViewPr varScale="1">
        <p:scale>
          <a:sx n="91" d="100"/>
          <a:sy n="91" d="100"/>
        </p:scale>
        <p:origin x="192" y="7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340423"/>
            <a:ext cx="5715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2860327"/>
            <a:ext cx="10626328" cy="594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sz="3900" b="1" i="0" u="none">
                <a:solidFill>
                  <a:srgbClr val="F8FAFC"/>
                </a:solidFill>
                <a:latin typeface="Noto Sans KR"/>
              </a:rPr>
              <a:t>정형 데이터 vs 비정형 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683198"/>
            <a:ext cx="7739062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4A3B8"/>
                </a:solidFill>
                <a:latin typeface="Noto Sans KR"/>
              </a:rPr>
              <a:t>데이터 구조에 따른 분류와 특징, 그리고 현대 AI 활용 분석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205037"/>
            <a:ext cx="5295900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433762"/>
            <a:ext cx="5295900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662487"/>
            <a:ext cx="5295900" cy="1038225"/>
          </a:xfrm>
          <a:prstGeom prst="roundRect">
            <a:avLst>
              <a:gd name="adj" fmla="val 110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238375"/>
            <a:ext cx="5295900" cy="3429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90787"/>
            <a:ext cx="1905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719512"/>
            <a:ext cx="17145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948237"/>
            <a:ext cx="142875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Noto Sans KR"/>
              </a:rPr>
              <a:t>STRUCTURED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2390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Noto Sans KR"/>
              </a:rPr>
              <a:t>01. 정형 데이터 (Structured Data)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433637"/>
            <a:ext cx="6350793" cy="276225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KR"/>
              </a:rPr>
              <a:t>고정된 테이블 구조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786062"/>
            <a:ext cx="49339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Noto Sans KR"/>
              </a:rPr>
              <a:t>행(Row)과 열(Column)로 규격화된 데이터 형태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662362"/>
            <a:ext cx="6350793" cy="27622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KR"/>
              </a:rPr>
              <a:t>RDBMS 및 SQL 탐색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014787"/>
            <a:ext cx="49339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Noto Sans KR"/>
              </a:rPr>
              <a:t>관계형 데이터베이스와 SQL 기반의 신속한 탐색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891087"/>
            <a:ext cx="6350793" cy="276225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Noto Sans KR"/>
              </a:rPr>
              <a:t>대표적 저장 형식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5243512"/>
            <a:ext cx="49339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Noto Sans KR"/>
              </a:rPr>
              <a:t>CSV, Excel, Relational Database 테이블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76512"/>
            <a:ext cx="5334000" cy="2695575"/>
          </a:xfrm>
          <a:prstGeom prst="roundRect">
            <a:avLst>
              <a:gd name="adj" fmla="val 565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576512"/>
            <a:ext cx="5334000" cy="2695575"/>
          </a:xfrm>
          <a:prstGeom prst="roundRect">
            <a:avLst>
              <a:gd name="adj" fmla="val 565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4405312"/>
            <a:ext cx="4724400" cy="561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53200" y="4405312"/>
            <a:ext cx="4724400" cy="561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4405312"/>
            <a:ext cx="4724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53200" y="4405312"/>
            <a:ext cx="4724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81312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2881312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442" y="3005137"/>
            <a:ext cx="16311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0242" y="3005137"/>
            <a:ext cx="163115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Noto Sans KR"/>
              </a:rPr>
              <a:t>UNSTRUCTURED &amp; SEMI-STRUCTURED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8580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Noto Sans KR"/>
              </a:rPr>
              <a:t>02. 비정형 및 반정형 데이터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90912"/>
            <a:ext cx="6200775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Noto Sans KR"/>
              </a:rPr>
              <a:t>비정형 데이터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48112"/>
            <a:ext cx="5905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Noto Sans KR"/>
              </a:rPr>
              <a:t>형태나 규격이 없는 데이터로 전체 데이터의 80% 이상을 차지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0" y="3490912"/>
            <a:ext cx="5638800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Noto Sans KR"/>
              </a:rPr>
              <a:t>반정형 데이터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200" y="3948112"/>
            <a:ext cx="56388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Noto Sans KR"/>
              </a:rPr>
              <a:t>테이블 구조는 아니지만 메타데이터나 스키마 정보를 포함한 형태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67237"/>
            <a:ext cx="59055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Noto Sans KR"/>
              </a:rPr>
              <a:t>주요 예시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86312"/>
            <a:ext cx="59055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Noto Sans KR"/>
              </a:rPr>
              <a:t>텍스트, 이미지, 음성 파일, 동영상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200" y="4567237"/>
            <a:ext cx="56388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Noto Sans KR"/>
              </a:rPr>
              <a:t>주요 예시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200" y="4786312"/>
            <a:ext cx="56388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Noto Sans KR"/>
              </a:rPr>
              <a:t>JSON, XML, HTML, 서버 로그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62225"/>
            <a:ext cx="10972800" cy="26479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031785"/>
              </p:ext>
            </p:extLst>
          </p:nvPr>
        </p:nvGraphicFramePr>
        <p:xfrm>
          <a:off x="609600" y="2562225"/>
          <a:ext cx="10963273" cy="2647950"/>
        </p:xfrm>
        <a:graphic>
          <a:graphicData uri="http://schemas.openxmlformats.org/drawingml/2006/table">
            <a:tbl>
              <a:tblPr/>
              <a:tblGrid>
                <a:gridCol w="2192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03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00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03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959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Noto Sans KR"/>
                        </a:rPr>
                        <a:t>구분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Noto Sans KR"/>
                        </a:rPr>
                        <a:t>정형 데이터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Noto Sans KR"/>
                        </a:rPr>
                        <a:t>반정형 데이터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Noto Sans KR"/>
                        </a:rPr>
                        <a:t>비정형 데이터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59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Noto Sans KR"/>
                        </a:rPr>
                        <a:t>데이터 구조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KR"/>
                        </a:rPr>
                        <a:t>고정된 행/열 구조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KR"/>
                        </a:rPr>
                        <a:t>태그 및 Key-Value 구조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KR"/>
                        </a:rPr>
                        <a:t>연속적/규격 없는 구조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59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Noto Sans KR"/>
                        </a:rPr>
                        <a:t>주요 저장소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KR"/>
                        </a:rPr>
                        <a:t>RDBMS, Excel, CSV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KR"/>
                        </a:rPr>
                        <a:t>NoSQL, JSON 파일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Noto Sans KR"/>
                        </a:rPr>
                        <a:t>Object Storage, </a:t>
                      </a:r>
                      <a:r>
                        <a:rPr lang="ko-KR" altLang="en-US" sz="1125" b="0" i="0" u="none" dirty="0">
                          <a:solidFill>
                            <a:srgbClr val="334155"/>
                          </a:solidFill>
                          <a:latin typeface="Noto Sans KR"/>
                        </a:rPr>
                        <a:t>파일 시스템</a:t>
                      </a:r>
                      <a:endParaRPr sz="1125" b="0" i="0" u="none" dirty="0">
                        <a:solidFill>
                          <a:srgbClr val="334155"/>
                        </a:solidFill>
                        <a:latin typeface="Noto Sans K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59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Noto Sans KR"/>
                        </a:rPr>
                        <a:t>처리 및 분석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KR"/>
                        </a:rPr>
                        <a:t>SQL, 통계 분석 패키지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KR"/>
                        </a:rPr>
                        <a:t>JSON 파싱, NoSQL 쿼리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KR"/>
                        </a:rPr>
                        <a:t>AI 모델, 딥러닝, NLP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59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F172A"/>
                          </a:solidFill>
                          <a:latin typeface="Noto Sans KR"/>
                        </a:rPr>
                        <a:t>처리 난이도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0284C7"/>
                          </a:solidFill>
                          <a:latin typeface="Noto Sans KR"/>
                        </a:rPr>
                        <a:t>낮음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KR"/>
                        </a:rPr>
                        <a:t> (즉시 활용 가능)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D97706"/>
                          </a:solidFill>
                          <a:latin typeface="Noto Sans KR"/>
                        </a:rPr>
                        <a:t>보통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Noto Sans KR"/>
                        </a:rPr>
                        <a:t> (파싱 작업 필요)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 err="1">
                          <a:solidFill>
                            <a:srgbClr val="DC2626"/>
                          </a:solidFill>
                          <a:latin typeface="Noto Sans KR"/>
                        </a:rPr>
                        <a:t>높음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Noto Sans KR"/>
                        </a:rPr>
                        <a:t> (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Noto Sans KR"/>
                        </a:rPr>
                        <a:t>전처리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Noto Sans KR"/>
                        </a:rPr>
                        <a:t>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Noto Sans KR"/>
                        </a:rPr>
                        <a:t>및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Noto Sans KR"/>
                        </a:rPr>
                        <a:t> AI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Noto Sans KR"/>
                        </a:rPr>
                        <a:t>필수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Noto Sans KR"/>
                        </a:rPr>
                        <a:t>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Noto Sans KR"/>
              </a:rPr>
              <a:t>COMPARISON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419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Noto Sans KR"/>
              </a:rPr>
              <a:t>03. 데이터 유형 핵심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200</Words>
  <Application>Microsoft Macintosh PowerPoint</Application>
  <PresentationFormat>와이드스크린</PresentationFormat>
  <Paragraphs>42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Calibri</vt:lpstr>
      <vt:lpstr>Noto Sans KR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김지언</cp:lastModifiedBy>
  <cp:revision>2</cp:revision>
  <dcterms:created xsi:type="dcterms:W3CDTF">2013-01-27T09:14:16Z</dcterms:created>
  <dcterms:modified xsi:type="dcterms:W3CDTF">2026-09-30T00:21:59Z</dcterms:modified>
  <cp:category/>
</cp:coreProperties>
</file>